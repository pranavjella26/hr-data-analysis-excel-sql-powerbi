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1119" r:id="rId2"/>
    <p:sldId id="1497" r:id="rId3"/>
    <p:sldId id="1498" r:id="rId4"/>
    <p:sldId id="1499" r:id="rId5"/>
    <p:sldId id="1500" r:id="rId6"/>
    <p:sldId id="1501" r:id="rId7"/>
    <p:sldId id="1506" r:id="rId8"/>
    <p:sldId id="1503" r:id="rId9"/>
    <p:sldId id="1504" r:id="rId10"/>
    <p:sldId id="1505" r:id="rId11"/>
    <p:sldId id="1502" r:id="rId12"/>
    <p:sldId id="1507" r:id="rId13"/>
    <p:sldId id="1508" r:id="rId14"/>
    <p:sldId id="1509" r:id="rId15"/>
    <p:sldId id="1510" r:id="rId16"/>
    <p:sldId id="1518" r:id="rId17"/>
    <p:sldId id="1511" r:id="rId18"/>
    <p:sldId id="1512" r:id="rId19"/>
    <p:sldId id="1513" r:id="rId20"/>
    <p:sldId id="1519" r:id="rId21"/>
    <p:sldId id="1514" r:id="rId22"/>
    <p:sldId id="1515" r:id="rId23"/>
    <p:sldId id="1516" r:id="rId24"/>
    <p:sldId id="1517" r:id="rId25"/>
    <p:sldId id="1520" r:id="rId26"/>
    <p:sldId id="1521" r:id="rId27"/>
    <p:sldId id="30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E4242"/>
    <a:srgbClr val="2CB22F"/>
    <a:srgbClr val="AEFCFC"/>
    <a:srgbClr val="E0C1FF"/>
    <a:srgbClr val="CC99FF"/>
    <a:srgbClr val="00589A"/>
    <a:srgbClr val="DECEFE"/>
    <a:srgbClr val="D0B9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26" autoAdjust="0"/>
  </p:normalViewPr>
  <p:slideViewPr>
    <p:cSldViewPr snapToGrid="0">
      <p:cViewPr varScale="1">
        <p:scale>
          <a:sx n="107" d="100"/>
          <a:sy n="107" d="100"/>
        </p:scale>
        <p:origin x="1066" y="3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813B3-6425-4A6D-806E-021B84DD5758}" type="datetimeFigureOut">
              <a:rPr lang="en-IN" smtClean="0"/>
              <a:t>10-03-2026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193CE8-3B10-43B2-8860-AFD8154600F8}" type="slidenum">
              <a:rPr lang="en-IN" smtClean="0"/>
              <a:t>‹#›</a:t>
            </a:fld>
            <a:endParaRPr lang="en-IN"/>
          </a:p>
        </p:txBody>
      </p:sp>
    </p:spTree>
    <p:extLst>
      <p:ext uri="{BB962C8B-B14F-4D97-AF65-F5344CB8AC3E}">
        <p14:creationId xmlns:p14="http://schemas.microsoft.com/office/powerpoint/2010/main" val="730557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10843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6" name="Google Shape;120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55428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caletrix Title Page">
    <p:spTree>
      <p:nvGrpSpPr>
        <p:cNvPr id="1" name=""/>
        <p:cNvGrpSpPr/>
        <p:nvPr/>
      </p:nvGrpSpPr>
      <p:grpSpPr>
        <a:xfrm>
          <a:off x="0" y="0"/>
          <a:ext cx="0" cy="0"/>
          <a:chOff x="0" y="0"/>
          <a:chExt cx="0" cy="0"/>
        </a:xfrm>
      </p:grpSpPr>
      <p:sp>
        <p:nvSpPr>
          <p:cNvPr id="2" name="Google Shape;22;p3">
            <a:extLst>
              <a:ext uri="{FF2B5EF4-FFF2-40B4-BE49-F238E27FC236}">
                <a16:creationId xmlns:a16="http://schemas.microsoft.com/office/drawing/2014/main" id="{2F306997-3B2B-2B65-053F-A3D89D2F2DA0}"/>
              </a:ext>
            </a:extLst>
          </p:cNvPr>
          <p:cNvSpPr/>
          <p:nvPr userDrawn="1"/>
        </p:nvSpPr>
        <p:spPr>
          <a:xfrm>
            <a:off x="-67" y="0"/>
            <a:ext cx="12192000" cy="6327976"/>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pic>
        <p:nvPicPr>
          <p:cNvPr id="3" name="Picture 2">
            <a:extLst>
              <a:ext uri="{FF2B5EF4-FFF2-40B4-BE49-F238E27FC236}">
                <a16:creationId xmlns:a16="http://schemas.microsoft.com/office/drawing/2014/main" id="{03AD558F-750C-7F7A-EF36-7477B28E6647}"/>
              </a:ext>
            </a:extLst>
          </p:cNvPr>
          <p:cNvPicPr>
            <a:picLocks noChangeAspect="1"/>
          </p:cNvPicPr>
          <p:nvPr userDrawn="1"/>
        </p:nvPicPr>
        <p:blipFill rotWithShape="1">
          <a:blip r:embed="rId2"/>
          <a:srcRect r="5636" b="4250"/>
          <a:stretch/>
        </p:blipFill>
        <p:spPr>
          <a:xfrm flipH="1">
            <a:off x="937527" y="1260005"/>
            <a:ext cx="5091797" cy="4486363"/>
          </a:xfrm>
          <a:prstGeom prst="rect">
            <a:avLst/>
          </a:prstGeom>
        </p:spPr>
      </p:pic>
      <p:sp>
        <p:nvSpPr>
          <p:cNvPr id="10" name="Rectangle 9">
            <a:extLst>
              <a:ext uri="{FF2B5EF4-FFF2-40B4-BE49-F238E27FC236}">
                <a16:creationId xmlns:a16="http://schemas.microsoft.com/office/drawing/2014/main" id="{41D13BBF-8BF9-58E8-2D48-8C25E8436E1D}"/>
              </a:ext>
            </a:extLst>
          </p:cNvPr>
          <p:cNvSpPr/>
          <p:nvPr userDrawn="1"/>
        </p:nvSpPr>
        <p:spPr>
          <a:xfrm>
            <a:off x="0" y="0"/>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12" name="Google Shape;37;p60">
            <a:extLst>
              <a:ext uri="{FF2B5EF4-FFF2-40B4-BE49-F238E27FC236}">
                <a16:creationId xmlns:a16="http://schemas.microsoft.com/office/drawing/2014/main" id="{E6481E89-02DE-7518-CF7A-DC982067B7A2}"/>
              </a:ext>
            </a:extLst>
          </p:cNvPr>
          <p:cNvSpPr txBox="1">
            <a:spLocks noGrp="1"/>
          </p:cNvSpPr>
          <p:nvPr>
            <p:ph type="subTitle" idx="1"/>
          </p:nvPr>
        </p:nvSpPr>
        <p:spPr>
          <a:xfrm>
            <a:off x="6279060" y="2107188"/>
            <a:ext cx="545574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1836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1"/>
        <p:cNvGrpSpPr/>
        <p:nvPr/>
      </p:nvGrpSpPr>
      <p:grpSpPr>
        <a:xfrm>
          <a:off x="0" y="0"/>
          <a:ext cx="0" cy="0"/>
          <a:chOff x="0" y="0"/>
          <a:chExt cx="0" cy="0"/>
        </a:xfrm>
      </p:grpSpPr>
      <p:sp>
        <p:nvSpPr>
          <p:cNvPr id="23" name="Google Shape;23;p3"/>
          <p:cNvSpPr txBox="1">
            <a:spLocks noGrp="1"/>
          </p:cNvSpPr>
          <p:nvPr>
            <p:ph type="title"/>
          </p:nvPr>
        </p:nvSpPr>
        <p:spPr>
          <a:xfrm>
            <a:off x="415600" y="4289085"/>
            <a:ext cx="11428400" cy="1256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atin typeface="Raleway" pitchFamily="2" charset="0"/>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dirty="0"/>
          </a:p>
        </p:txBody>
      </p:sp>
      <p:sp>
        <p:nvSpPr>
          <p:cNvPr id="2" name="Google Shape;8;p1">
            <a:extLst>
              <a:ext uri="{FF2B5EF4-FFF2-40B4-BE49-F238E27FC236}">
                <a16:creationId xmlns:a16="http://schemas.microsoft.com/office/drawing/2014/main" id="{9DF37ADA-1D1E-F64E-723D-3F6E9A12009A}"/>
              </a:ext>
            </a:extLst>
          </p:cNvPr>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rm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3313620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1"/>
        <p:cNvGrpSpPr/>
        <p:nvPr/>
      </p:nvGrpSpPr>
      <p:grpSpPr>
        <a:xfrm>
          <a:off x="0" y="0"/>
          <a:ext cx="0" cy="0"/>
          <a:chOff x="0" y="0"/>
          <a:chExt cx="0" cy="0"/>
        </a:xfrm>
      </p:grpSpPr>
      <p:sp>
        <p:nvSpPr>
          <p:cNvPr id="62" name="Google Shape;62;p10"/>
          <p:cNvSpPr txBox="1">
            <a:spLocks noGrp="1"/>
          </p:cNvSpPr>
          <p:nvPr>
            <p:ph type="body" idx="1"/>
          </p:nvPr>
        </p:nvSpPr>
        <p:spPr>
          <a:xfrm>
            <a:off x="1081404" y="5270123"/>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2400"/>
              <a:buFont typeface="PT Sans Narrow"/>
              <a:buNone/>
              <a:defRPr sz="3200">
                <a:latin typeface="Raleway" pitchFamily="2" charset="0"/>
                <a:ea typeface="Raleway" pitchFamily="2" charset="0"/>
                <a:cs typeface="Raleway" pitchFamily="2" charset="0"/>
                <a:sym typeface="PT Sans Narrow"/>
              </a:defRPr>
            </a:lvl1pPr>
          </a:lstStyle>
          <a:p>
            <a:endParaRPr dirty="0"/>
          </a:p>
        </p:txBody>
      </p:sp>
      <p:sp>
        <p:nvSpPr>
          <p:cNvPr id="6" name="Slide Number Placeholder 5">
            <a:extLst>
              <a:ext uri="{FF2B5EF4-FFF2-40B4-BE49-F238E27FC236}">
                <a16:creationId xmlns:a16="http://schemas.microsoft.com/office/drawing/2014/main" id="{2D49176E-C771-72C8-F8E5-906AAEAB5941}"/>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9918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userDrawn="1">
  <p:cSld name="One column text">
    <p:spTree>
      <p:nvGrpSpPr>
        <p:cNvPr id="1" name="Shape 44"/>
        <p:cNvGrpSpPr/>
        <p:nvPr/>
      </p:nvGrpSpPr>
      <p:grpSpPr>
        <a:xfrm>
          <a:off x="0" y="0"/>
          <a:ext cx="0" cy="0"/>
          <a:chOff x="0" y="0"/>
          <a:chExt cx="0" cy="0"/>
        </a:xfrm>
      </p:grpSpPr>
      <p:sp>
        <p:nvSpPr>
          <p:cNvPr id="46" name="Google Shape;46;p7"/>
          <p:cNvSpPr txBox="1">
            <a:spLocks noGrp="1"/>
          </p:cNvSpPr>
          <p:nvPr>
            <p:ph type="body" idx="1"/>
          </p:nvPr>
        </p:nvSpPr>
        <p:spPr>
          <a:xfrm>
            <a:off x="415600" y="1672836"/>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333">
                <a:latin typeface="Calibri" panose="020F0502020204030204" pitchFamily="34" charset="0"/>
                <a:cs typeface="Calibri" panose="020F0502020204030204" pitchFamily="34" charset="0"/>
              </a:defRPr>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dirty="0"/>
          </a:p>
        </p:txBody>
      </p:sp>
      <p:sp>
        <p:nvSpPr>
          <p:cNvPr id="5" name="Google Shape;45;p7">
            <a:extLst>
              <a:ext uri="{FF2B5EF4-FFF2-40B4-BE49-F238E27FC236}">
                <a16:creationId xmlns:a16="http://schemas.microsoft.com/office/drawing/2014/main" id="{482C3779-B2BB-CEE4-3E2C-334B9C6C7D8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7" name="Slide Number Placeholder 5">
            <a:extLst>
              <a:ext uri="{FF2B5EF4-FFF2-40B4-BE49-F238E27FC236}">
                <a16:creationId xmlns:a16="http://schemas.microsoft.com/office/drawing/2014/main" id="{E53AC460-69CA-8F48-E3C8-414742235405}"/>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228013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9630DA-C8F6-4DCB-07B4-8474A714CA0E}"/>
              </a:ext>
            </a:extLst>
          </p:cNvPr>
          <p:cNvSpPr>
            <a:spLocks noGrp="1"/>
          </p:cNvSpPr>
          <p:nvPr>
            <p:ph type="pic" idx="1"/>
          </p:nvPr>
        </p:nvSpPr>
        <p:spPr>
          <a:xfrm>
            <a:off x="5183188" y="2049463"/>
            <a:ext cx="6172200" cy="3811588"/>
          </a:xfrm>
          <a:prstGeom prst="rect">
            <a:avLst/>
          </a:prstGeom>
        </p:spPr>
        <p:txBody>
          <a:bodyPr>
            <a:normAutofit/>
          </a:bodyPr>
          <a:lstStyle>
            <a:lvl1pPr marL="0" indent="0">
              <a:buNone/>
              <a:defRPr sz="1333">
                <a:latin typeface="Calibri" panose="020F0502020204030204" pitchFamily="34" charset="0"/>
                <a:cs typeface="Calibri" panose="020F0502020204030204"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a:extLst>
              <a:ext uri="{FF2B5EF4-FFF2-40B4-BE49-F238E27FC236}">
                <a16:creationId xmlns:a16="http://schemas.microsoft.com/office/drawing/2014/main" id="{2D23ABE9-772D-629A-0846-B8D8655E488F}"/>
              </a:ext>
            </a:extLst>
          </p:cNvPr>
          <p:cNvSpPr>
            <a:spLocks noGrp="1"/>
          </p:cNvSpPr>
          <p:nvPr>
            <p:ph type="body" sz="half" idx="2"/>
          </p:nvPr>
        </p:nvSpPr>
        <p:spPr>
          <a:xfrm>
            <a:off x="839788" y="2057401"/>
            <a:ext cx="3932237" cy="3811588"/>
          </a:xfrm>
          <a:prstGeom prst="rect">
            <a:avLst/>
          </a:prstGeom>
        </p:spPr>
        <p:txBody>
          <a:bodyPr/>
          <a:lstStyle>
            <a:lvl1pPr marL="0" indent="0">
              <a:buNone/>
              <a:defRPr sz="1333">
                <a:latin typeface="Calibri" panose="020F0502020204030204" pitchFamily="34" charset="0"/>
                <a:cs typeface="Calibri" panose="020F050202020403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11" name="Google Shape;45;p7">
            <a:extLst>
              <a:ext uri="{FF2B5EF4-FFF2-40B4-BE49-F238E27FC236}">
                <a16:creationId xmlns:a16="http://schemas.microsoft.com/office/drawing/2014/main" id="{2DDA5E8B-7438-C891-2771-F57700CCD3F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3" name="Slide Number Placeholder 5">
            <a:extLst>
              <a:ext uri="{FF2B5EF4-FFF2-40B4-BE49-F238E27FC236}">
                <a16:creationId xmlns:a16="http://schemas.microsoft.com/office/drawing/2014/main" id="{BE10E01B-527E-6CF6-D575-6D430AD2824D}"/>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061382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91"/>
        <p:cNvGrpSpPr/>
        <p:nvPr/>
      </p:nvGrpSpPr>
      <p:grpSpPr>
        <a:xfrm>
          <a:off x="0" y="0"/>
          <a:ext cx="0" cy="0"/>
          <a:chOff x="0" y="0"/>
          <a:chExt cx="0" cy="0"/>
        </a:xfrm>
      </p:grpSpPr>
      <p:sp>
        <p:nvSpPr>
          <p:cNvPr id="93" name="Google Shape;93;p15"/>
          <p:cNvSpPr txBox="1">
            <a:spLocks noGrp="1"/>
          </p:cNvSpPr>
          <p:nvPr>
            <p:ph type="body" idx="1"/>
          </p:nvPr>
        </p:nvSpPr>
        <p:spPr>
          <a:xfrm>
            <a:off x="838200" y="2023409"/>
            <a:ext cx="10515600" cy="3955636"/>
          </a:xfrm>
          <a:prstGeom prst="rect">
            <a:avLst/>
          </a:prstGeom>
          <a:noFill/>
          <a:ln>
            <a:noFill/>
          </a:ln>
        </p:spPr>
        <p:txBody>
          <a:bodyPr spcFirstLastPara="1" wrap="square" lIns="68575" tIns="34275" rIns="68575" bIns="34275" anchor="t" anchorCtr="0">
            <a:normAutofit/>
          </a:bodyPr>
          <a:lstStyle>
            <a:lvl1pPr marL="609585" lvl="0" indent="-423323" algn="l" rtl="0">
              <a:lnSpc>
                <a:spcPct val="90000"/>
              </a:lnSpc>
              <a:spcBef>
                <a:spcPts val="1067"/>
              </a:spcBef>
              <a:spcAft>
                <a:spcPts val="0"/>
              </a:spcAft>
              <a:buClr>
                <a:schemeClr val="dk1"/>
              </a:buClr>
              <a:buSzPts val="1400"/>
              <a:buChar char="•"/>
              <a:defRPr>
                <a:latin typeface="Calibri" panose="020F0502020204030204" pitchFamily="34" charset="0"/>
                <a:cs typeface="Calibri" panose="020F0502020204030204" pitchFamily="34" charset="0"/>
              </a:defRPr>
            </a:lvl1pPr>
            <a:lvl2pPr marL="1219170" lvl="1" indent="-423323" algn="l" rtl="0">
              <a:lnSpc>
                <a:spcPct val="90000"/>
              </a:lnSpc>
              <a:spcBef>
                <a:spcPts val="533"/>
              </a:spcBef>
              <a:spcAft>
                <a:spcPts val="0"/>
              </a:spcAft>
              <a:buClr>
                <a:schemeClr val="dk1"/>
              </a:buClr>
              <a:buSzPts val="1400"/>
              <a:buChar char="•"/>
              <a:defRPr/>
            </a:lvl2pPr>
            <a:lvl3pPr marL="1828754" lvl="2" indent="-423323" algn="l" rtl="0">
              <a:lnSpc>
                <a:spcPct val="90000"/>
              </a:lnSpc>
              <a:spcBef>
                <a:spcPts val="533"/>
              </a:spcBef>
              <a:spcAft>
                <a:spcPts val="0"/>
              </a:spcAft>
              <a:buClr>
                <a:schemeClr val="dk1"/>
              </a:buClr>
              <a:buSzPts val="1400"/>
              <a:buChar char="•"/>
              <a:defRPr/>
            </a:lvl3pPr>
            <a:lvl4pPr marL="2438339" lvl="3" indent="-423323" algn="l" rtl="0">
              <a:lnSpc>
                <a:spcPct val="90000"/>
              </a:lnSpc>
              <a:spcBef>
                <a:spcPts val="533"/>
              </a:spcBef>
              <a:spcAft>
                <a:spcPts val="0"/>
              </a:spcAft>
              <a:buClr>
                <a:schemeClr val="dk1"/>
              </a:buClr>
              <a:buSzPts val="1400"/>
              <a:buChar char="•"/>
              <a:defRPr/>
            </a:lvl4pPr>
            <a:lvl5pPr marL="3047924" lvl="4" indent="-423323" algn="l" rtl="0">
              <a:lnSpc>
                <a:spcPct val="90000"/>
              </a:lnSpc>
              <a:spcBef>
                <a:spcPts val="533"/>
              </a:spcBef>
              <a:spcAft>
                <a:spcPts val="0"/>
              </a:spcAft>
              <a:buClr>
                <a:schemeClr val="dk1"/>
              </a:buClr>
              <a:buSzPts val="1400"/>
              <a:buChar char="•"/>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0"/>
              </a:spcAft>
              <a:buClr>
                <a:schemeClr val="dk1"/>
              </a:buClr>
              <a:buSzPts val="1400"/>
              <a:buChar char="•"/>
              <a:defRPr/>
            </a:lvl9pPr>
          </a:lstStyle>
          <a:p>
            <a:endParaRPr dirty="0"/>
          </a:p>
        </p:txBody>
      </p:sp>
      <p:sp>
        <p:nvSpPr>
          <p:cNvPr id="4" name="Google Shape;45;p7">
            <a:extLst>
              <a:ext uri="{FF2B5EF4-FFF2-40B4-BE49-F238E27FC236}">
                <a16:creationId xmlns:a16="http://schemas.microsoft.com/office/drawing/2014/main" id="{EB44CB0A-F4B1-A402-3759-2C3528AB8E4F}"/>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876617F3-2402-6614-1A74-28C7B4C54B2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932584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6E896A-68C9-7523-8C07-666BD0EFBA84}"/>
              </a:ext>
            </a:extLst>
          </p:cNvPr>
          <p:cNvSpPr>
            <a:spLocks noGrp="1"/>
          </p:cNvSpPr>
          <p:nvPr>
            <p:ph idx="1"/>
          </p:nvPr>
        </p:nvSpPr>
        <p:spPr>
          <a:xfrm>
            <a:off x="415600" y="2602499"/>
            <a:ext cx="11360800" cy="3153216"/>
          </a:xfrm>
          <a:prstGeom prst="rect">
            <a:avLst/>
          </a:prstGeom>
        </p:spPr>
        <p:txBody>
          <a:bodyPr/>
          <a:lstStyle>
            <a:lvl1pPr>
              <a:defRPr>
                <a:latin typeface="Calibri" panose="020F0502020204030204" pitchFamily="34" charset="0"/>
                <a:cs typeface="Calibri" panose="020F0502020204030204" pitchFamily="34" charset="0"/>
              </a:defRPr>
            </a:lvl1pPr>
            <a:lvl2pPr>
              <a:defRPr>
                <a:latin typeface="Raleway" pitchFamily="2" charset="0"/>
              </a:defRPr>
            </a:lvl2pPr>
            <a:lvl3pPr>
              <a:defRPr>
                <a:latin typeface="Raleway" pitchFamily="2" charset="0"/>
              </a:defRPr>
            </a:lvl3pPr>
            <a:lvl4pPr>
              <a:defRPr>
                <a:latin typeface="Raleway" pitchFamily="2" charset="0"/>
              </a:defRPr>
            </a:lvl4pPr>
            <a:lvl5pPr>
              <a:defRPr>
                <a:latin typeface="Raleway"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45;p7">
            <a:extLst>
              <a:ext uri="{FF2B5EF4-FFF2-40B4-BE49-F238E27FC236}">
                <a16:creationId xmlns:a16="http://schemas.microsoft.com/office/drawing/2014/main" id="{2B1567C0-4287-5016-773D-60FC6944785E}"/>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2" name="Slide Number Placeholder 5">
            <a:extLst>
              <a:ext uri="{FF2B5EF4-FFF2-40B4-BE49-F238E27FC236}">
                <a16:creationId xmlns:a16="http://schemas.microsoft.com/office/drawing/2014/main" id="{54CBDA10-C463-8A5E-0969-8CFE1D30C617}"/>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16484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userDrawn="1">
  <p:cSld name="Title and two columns 1">
    <p:spTree>
      <p:nvGrpSpPr>
        <p:cNvPr id="1" name="Shape 76"/>
        <p:cNvGrpSpPr/>
        <p:nvPr/>
      </p:nvGrpSpPr>
      <p:grpSpPr>
        <a:xfrm>
          <a:off x="0" y="0"/>
          <a:ext cx="0" cy="0"/>
          <a:chOff x="0" y="0"/>
          <a:chExt cx="0" cy="0"/>
        </a:xfrm>
      </p:grpSpPr>
      <p:sp>
        <p:nvSpPr>
          <p:cNvPr id="77" name="Google Shape;77;p13"/>
          <p:cNvSpPr txBox="1">
            <a:spLocks noGrp="1"/>
          </p:cNvSpPr>
          <p:nvPr>
            <p:ph type="subTitle" idx="1"/>
          </p:nvPr>
        </p:nvSpPr>
        <p:spPr>
          <a:xfrm>
            <a:off x="18027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78" name="Google Shape;78;p13"/>
          <p:cNvSpPr txBox="1">
            <a:spLocks noGrp="1"/>
          </p:cNvSpPr>
          <p:nvPr>
            <p:ph type="subTitle" idx="2"/>
          </p:nvPr>
        </p:nvSpPr>
        <p:spPr>
          <a:xfrm>
            <a:off x="18027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dirty="0"/>
          </a:p>
        </p:txBody>
      </p:sp>
      <p:sp>
        <p:nvSpPr>
          <p:cNvPr id="79" name="Google Shape;79;p13"/>
          <p:cNvSpPr txBox="1">
            <a:spLocks noGrp="1"/>
          </p:cNvSpPr>
          <p:nvPr>
            <p:ph type="subTitle" idx="3"/>
          </p:nvPr>
        </p:nvSpPr>
        <p:spPr>
          <a:xfrm>
            <a:off x="67430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80" name="Google Shape;80;p13"/>
          <p:cNvSpPr txBox="1">
            <a:spLocks noGrp="1"/>
          </p:cNvSpPr>
          <p:nvPr>
            <p:ph type="subTitle" idx="4"/>
          </p:nvPr>
        </p:nvSpPr>
        <p:spPr>
          <a:xfrm>
            <a:off x="67430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a:p>
        </p:txBody>
      </p:sp>
      <p:sp>
        <p:nvSpPr>
          <p:cNvPr id="3" name="Google Shape;45;p7">
            <a:extLst>
              <a:ext uri="{FF2B5EF4-FFF2-40B4-BE49-F238E27FC236}">
                <a16:creationId xmlns:a16="http://schemas.microsoft.com/office/drawing/2014/main" id="{D0B48D13-027A-4AFE-4CD9-AAE135E2BABD}"/>
              </a:ext>
            </a:extLst>
          </p:cNvPr>
          <p:cNvSpPr txBox="1">
            <a:spLocks noGrp="1"/>
          </p:cNvSpPr>
          <p:nvPr>
            <p:ph type="title"/>
          </p:nvPr>
        </p:nvSpPr>
        <p:spPr>
          <a:xfrm>
            <a:off x="403199" y="115200"/>
            <a:ext cx="10550999"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9432BB4C-0FFD-F107-637F-62075DD566B0}"/>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265085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2236481"/>
            <a:ext cx="11360800" cy="2051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7333">
                <a:solidFill>
                  <a:schemeClr val="accent3"/>
                </a:solidFill>
                <a:latin typeface="Calibri" panose="020F0502020204030204" pitchFamily="34" charset="0"/>
                <a:cs typeface="Calibri" panose="020F0502020204030204" pitchFamily="34" charset="0"/>
              </a:defRPr>
            </a:lvl1pPr>
            <a:lvl2pPr lvl="1" algn="ctr">
              <a:spcBef>
                <a:spcPts val="0"/>
              </a:spcBef>
              <a:spcAft>
                <a:spcPts val="0"/>
              </a:spcAft>
              <a:buClr>
                <a:schemeClr val="accent3"/>
              </a:buClr>
              <a:buSzPts val="13000"/>
              <a:buNone/>
              <a:defRPr sz="17333">
                <a:solidFill>
                  <a:schemeClr val="accent3"/>
                </a:solidFill>
              </a:defRPr>
            </a:lvl2pPr>
            <a:lvl3pPr lvl="2" algn="ctr">
              <a:spcBef>
                <a:spcPts val="0"/>
              </a:spcBef>
              <a:spcAft>
                <a:spcPts val="0"/>
              </a:spcAft>
              <a:buClr>
                <a:schemeClr val="accent3"/>
              </a:buClr>
              <a:buSzPts val="13000"/>
              <a:buNone/>
              <a:defRPr sz="17333">
                <a:solidFill>
                  <a:schemeClr val="accent3"/>
                </a:solidFill>
              </a:defRPr>
            </a:lvl3pPr>
            <a:lvl4pPr lvl="3" algn="ctr">
              <a:spcBef>
                <a:spcPts val="0"/>
              </a:spcBef>
              <a:spcAft>
                <a:spcPts val="0"/>
              </a:spcAft>
              <a:buClr>
                <a:schemeClr val="accent3"/>
              </a:buClr>
              <a:buSzPts val="13000"/>
              <a:buNone/>
              <a:defRPr sz="17333">
                <a:solidFill>
                  <a:schemeClr val="accent3"/>
                </a:solidFill>
              </a:defRPr>
            </a:lvl4pPr>
            <a:lvl5pPr lvl="4" algn="ctr">
              <a:spcBef>
                <a:spcPts val="0"/>
              </a:spcBef>
              <a:spcAft>
                <a:spcPts val="0"/>
              </a:spcAft>
              <a:buClr>
                <a:schemeClr val="accent3"/>
              </a:buClr>
              <a:buSzPts val="13000"/>
              <a:buNone/>
              <a:defRPr sz="17333">
                <a:solidFill>
                  <a:schemeClr val="accent3"/>
                </a:solidFill>
              </a:defRPr>
            </a:lvl5pPr>
            <a:lvl6pPr lvl="5" algn="ctr">
              <a:spcBef>
                <a:spcPts val="0"/>
              </a:spcBef>
              <a:spcAft>
                <a:spcPts val="0"/>
              </a:spcAft>
              <a:buClr>
                <a:schemeClr val="accent3"/>
              </a:buClr>
              <a:buSzPts val="13000"/>
              <a:buNone/>
              <a:defRPr sz="17333">
                <a:solidFill>
                  <a:schemeClr val="accent3"/>
                </a:solidFill>
              </a:defRPr>
            </a:lvl6pPr>
            <a:lvl7pPr lvl="6" algn="ctr">
              <a:spcBef>
                <a:spcPts val="0"/>
              </a:spcBef>
              <a:spcAft>
                <a:spcPts val="0"/>
              </a:spcAft>
              <a:buClr>
                <a:schemeClr val="accent3"/>
              </a:buClr>
              <a:buSzPts val="13000"/>
              <a:buNone/>
              <a:defRPr sz="17333">
                <a:solidFill>
                  <a:schemeClr val="accent3"/>
                </a:solidFill>
              </a:defRPr>
            </a:lvl7pPr>
            <a:lvl8pPr lvl="7" algn="ctr">
              <a:spcBef>
                <a:spcPts val="0"/>
              </a:spcBef>
              <a:spcAft>
                <a:spcPts val="0"/>
              </a:spcAft>
              <a:buClr>
                <a:schemeClr val="accent3"/>
              </a:buClr>
              <a:buSzPts val="13000"/>
              <a:buNone/>
              <a:defRPr sz="17333">
                <a:solidFill>
                  <a:schemeClr val="accent3"/>
                </a:solidFill>
              </a:defRPr>
            </a:lvl8pPr>
            <a:lvl9pPr lvl="8" algn="ctr">
              <a:spcBef>
                <a:spcPts val="0"/>
              </a:spcBef>
              <a:spcAft>
                <a:spcPts val="0"/>
              </a:spcAft>
              <a:buClr>
                <a:schemeClr val="accent3"/>
              </a:buClr>
              <a:buSzPts val="13000"/>
              <a:buNone/>
              <a:defRPr sz="17333">
                <a:solidFill>
                  <a:schemeClr val="accent3"/>
                </a:solidFill>
              </a:defRPr>
            </a:lvl9pPr>
          </a:lstStyle>
          <a:p>
            <a:r>
              <a:rPr dirty="0"/>
              <a:t>xx%</a:t>
            </a:r>
          </a:p>
        </p:txBody>
      </p:sp>
      <p:sp>
        <p:nvSpPr>
          <p:cNvPr id="68" name="Google Shape;68;p11"/>
          <p:cNvSpPr txBox="1">
            <a:spLocks noGrp="1"/>
          </p:cNvSpPr>
          <p:nvPr>
            <p:ph type="body" idx="1"/>
          </p:nvPr>
        </p:nvSpPr>
        <p:spPr>
          <a:xfrm>
            <a:off x="415600" y="4490881"/>
            <a:ext cx="11360800" cy="14288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atin typeface="Calibri" panose="020F0502020204030204" pitchFamily="34" charset="0"/>
                <a:cs typeface="Calibri" panose="020F0502020204030204" pitchFamily="34" charset="0"/>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dirty="0"/>
          </a:p>
        </p:txBody>
      </p:sp>
      <p:sp>
        <p:nvSpPr>
          <p:cNvPr id="8" name="Slide Number Placeholder 5">
            <a:extLst>
              <a:ext uri="{FF2B5EF4-FFF2-40B4-BE49-F238E27FC236}">
                <a16:creationId xmlns:a16="http://schemas.microsoft.com/office/drawing/2014/main" id="{FEF22A34-8630-7179-6BE7-3A5ED218F44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36081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Google Shape;45;p7">
            <a:extLst>
              <a:ext uri="{FF2B5EF4-FFF2-40B4-BE49-F238E27FC236}">
                <a16:creationId xmlns:a16="http://schemas.microsoft.com/office/drawing/2014/main" id="{564256A3-4B60-B37C-3C15-AB3FE9B6DA43}"/>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1" name="Slide Number Placeholder 5">
            <a:extLst>
              <a:ext uri="{FF2B5EF4-FFF2-40B4-BE49-F238E27FC236}">
                <a16:creationId xmlns:a16="http://schemas.microsoft.com/office/drawing/2014/main" id="{4B24C27D-E9CF-52B2-895E-3ABEC7ADC878}"/>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560623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83060A7-945A-2E96-761C-7E7F8D3C45F9}"/>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71137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
        <p:cNvGrpSpPr/>
        <p:nvPr/>
      </p:nvGrpSpPr>
      <p:grpSpPr>
        <a:xfrm>
          <a:off x="0" y="0"/>
          <a:ext cx="0" cy="0"/>
          <a:chOff x="0" y="0"/>
          <a:chExt cx="0" cy="0"/>
        </a:xfrm>
      </p:grpSpPr>
      <p:sp>
        <p:nvSpPr>
          <p:cNvPr id="37" name="Google Shape;37;p60"/>
          <p:cNvSpPr txBox="1">
            <a:spLocks noGrp="1"/>
          </p:cNvSpPr>
          <p:nvPr>
            <p:ph type="subTitle" idx="1"/>
          </p:nvPr>
        </p:nvSpPr>
        <p:spPr>
          <a:xfrm>
            <a:off x="2840535" y="4195828"/>
            <a:ext cx="649400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
        <p:nvSpPr>
          <p:cNvPr id="38" name="Google Shape;38;p60"/>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1pPr>
            <a:lvl2pPr marL="0" lvl="1"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2pPr>
            <a:lvl3pPr marL="0" lvl="2"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3pPr>
            <a:lvl4pPr marL="0" lvl="3"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4pPr>
            <a:lvl5pPr marL="0" lvl="4"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5pPr>
            <a:lvl6pPr marL="0" lvl="5"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6pPr>
            <a:lvl7pPr marL="0" lvl="6"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7pPr>
            <a:lvl8pPr marL="0" lvl="7"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8pPr>
            <a:lvl9pPr marL="0" lvl="8"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830446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03200" y="115200"/>
            <a:ext cx="11360800" cy="94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dirty="0"/>
          </a:p>
        </p:txBody>
      </p:sp>
      <p:sp>
        <p:nvSpPr>
          <p:cNvPr id="27" name="Rectangle 26">
            <a:extLst>
              <a:ext uri="{FF2B5EF4-FFF2-40B4-BE49-F238E27FC236}">
                <a16:creationId xmlns:a16="http://schemas.microsoft.com/office/drawing/2014/main" id="{D2573FB6-F6A4-C682-F4CD-14CE8176A144}"/>
              </a:ext>
            </a:extLst>
          </p:cNvPr>
          <p:cNvSpPr/>
          <p:nvPr userDrawn="1"/>
        </p:nvSpPr>
        <p:spPr>
          <a:xfrm>
            <a:off x="0" y="6331389"/>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8" name="Google Shape;8;p1"/>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945671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6CF642-B155-3EAA-0E23-97793C0E3936}"/>
              </a:ext>
            </a:extLst>
          </p:cNvPr>
          <p:cNvSpPr txBox="1"/>
          <p:nvPr/>
        </p:nvSpPr>
        <p:spPr>
          <a:xfrm>
            <a:off x="6778849" y="1204273"/>
            <a:ext cx="4741333" cy="5653727"/>
          </a:xfrm>
          <a:prstGeom prst="rect">
            <a:avLst/>
          </a:prstGeom>
          <a:noFill/>
        </p:spPr>
        <p:txBody>
          <a:bodyPr wrap="square" rtlCol="0">
            <a:spAutoFit/>
          </a:bodyPr>
          <a:lstStyle/>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r>
              <a:rPr lang="en-IN" sz="2667" b="1" kern="0" dirty="0">
                <a:solidFill>
                  <a:prstClr val="black">
                    <a:lumMod val="85000"/>
                    <a:lumOff val="15000"/>
                  </a:prstClr>
                </a:solidFill>
                <a:latin typeface="Arial"/>
                <a:cs typeface="Arial"/>
                <a:sym typeface="Arial"/>
              </a:rPr>
              <a:t>Project Title</a:t>
            </a:r>
          </a:p>
          <a:p>
            <a:pPr algn="ctr" defTabSz="1219170">
              <a:buClr>
                <a:srgbClr val="000000"/>
              </a:buClr>
            </a:pPr>
            <a:r>
              <a:rPr lang="en-IN" sz="3600" b="1" kern="0" dirty="0">
                <a:solidFill>
                  <a:srgbClr val="FF0000"/>
                </a:solidFill>
                <a:latin typeface="Arial"/>
                <a:cs typeface="Arial"/>
                <a:sym typeface="Arial"/>
              </a:rPr>
              <a:t>HR DATA ANALYSIS</a:t>
            </a: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r>
              <a:rPr lang="en-IN" sz="2667" b="1" kern="0" dirty="0">
                <a:solidFill>
                  <a:prstClr val="black">
                    <a:lumMod val="85000"/>
                    <a:lumOff val="15000"/>
                  </a:prstClr>
                </a:solidFill>
                <a:latin typeface="Arial"/>
                <a:cs typeface="Arial"/>
                <a:sym typeface="Arial"/>
              </a:rPr>
              <a:t>Name: MOHAMMED SALAH</a:t>
            </a:r>
          </a:p>
          <a:p>
            <a:pPr algn="ctr" defTabSz="1219170">
              <a:buClr>
                <a:srgbClr val="000000"/>
              </a:buClr>
            </a:pPr>
            <a:r>
              <a:rPr lang="en-IN" sz="2667" b="1" kern="0" dirty="0">
                <a:solidFill>
                  <a:prstClr val="black">
                    <a:lumMod val="85000"/>
                    <a:lumOff val="15000"/>
                  </a:prstClr>
                </a:solidFill>
                <a:latin typeface="Arial"/>
                <a:cs typeface="Arial"/>
                <a:sym typeface="Arial"/>
              </a:rPr>
              <a:t>Date: 10-03-2026</a:t>
            </a: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p:txBody>
      </p:sp>
    </p:spTree>
    <p:extLst>
      <p:ext uri="{BB962C8B-B14F-4D97-AF65-F5344CB8AC3E}">
        <p14:creationId xmlns:p14="http://schemas.microsoft.com/office/powerpoint/2010/main" val="3071345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BC247B-C22A-0811-F91F-EFF5CF5A705D}"/>
              </a:ext>
            </a:extLst>
          </p:cNvPr>
          <p:cNvSpPr>
            <a:spLocks noGrp="1"/>
          </p:cNvSpPr>
          <p:nvPr>
            <p:ph type="body" idx="1"/>
          </p:nvPr>
        </p:nvSpPr>
        <p:spPr>
          <a:xfrm>
            <a:off x="838200" y="1701957"/>
            <a:ext cx="10515600" cy="4270218"/>
          </a:xfrm>
        </p:spPr>
        <p:txBody>
          <a:bodyPr>
            <a:normAutofit fontScale="25000" lnSpcReduction="20000"/>
          </a:bodyPr>
          <a:lstStyle/>
          <a:p>
            <a:pPr marL="186262" indent="0">
              <a:buNone/>
            </a:pPr>
            <a:r>
              <a:rPr lang="en-US" sz="7200" dirty="0"/>
              <a:t>A mid-sized organization wants to improve its human resource planning, retention strategy, and departmental efficiency. The company has been collecting employee data over the years, including:</a:t>
            </a:r>
          </a:p>
          <a:p>
            <a:pPr marL="895335" lvl="1" indent="-285750">
              <a:buFont typeface="Arial" panose="020B0604020202020204" pitchFamily="34" charset="0"/>
              <a:buChar char="•"/>
            </a:pPr>
            <a:r>
              <a:rPr lang="en-US" sz="7200" dirty="0"/>
              <a:t>Demographics</a:t>
            </a:r>
          </a:p>
          <a:p>
            <a:pPr marL="895335" lvl="1" indent="-285750">
              <a:buFont typeface="Arial" panose="020B0604020202020204" pitchFamily="34" charset="0"/>
              <a:buChar char="•"/>
            </a:pPr>
            <a:r>
              <a:rPr lang="en-US" sz="7200" dirty="0"/>
              <a:t>Work history</a:t>
            </a:r>
          </a:p>
          <a:p>
            <a:pPr marL="895335" lvl="1" indent="-285750">
              <a:buFont typeface="Arial" panose="020B0604020202020204" pitchFamily="34" charset="0"/>
              <a:buChar char="•"/>
            </a:pPr>
            <a:r>
              <a:rPr lang="en-US" sz="7200" dirty="0"/>
              <a:t>Performance</a:t>
            </a:r>
          </a:p>
          <a:p>
            <a:pPr marL="895335" lvl="1" indent="-285750">
              <a:buFont typeface="Arial" panose="020B0604020202020204" pitchFamily="34" charset="0"/>
              <a:buChar char="•"/>
            </a:pPr>
            <a:r>
              <a:rPr lang="en-US" sz="7200" dirty="0"/>
              <a:t>Attrition details</a:t>
            </a:r>
          </a:p>
          <a:p>
            <a:pPr marL="285750" indent="-285750">
              <a:buFont typeface="Arial" panose="020B0604020202020204" pitchFamily="34" charset="0"/>
              <a:buChar char="•"/>
            </a:pPr>
            <a:endParaRPr lang="en-US" sz="7200" dirty="0"/>
          </a:p>
          <a:p>
            <a:pPr marL="186262" indent="0">
              <a:buNone/>
            </a:pPr>
            <a:r>
              <a:rPr lang="en-US" sz="7200" dirty="0"/>
              <a:t>Additionally, it maintains a department-level database with department names and IDs.</a:t>
            </a:r>
          </a:p>
          <a:p>
            <a:endParaRPr lang="en-US" sz="7200" dirty="0"/>
          </a:p>
          <a:p>
            <a:pPr marL="186262" indent="0">
              <a:buNone/>
            </a:pPr>
            <a:r>
              <a:rPr lang="en-US" sz="7200" dirty="0"/>
              <a:t>With rising attrition in some departments and concerns around performance consistency, the HR and Leadership teams want a data-driven understanding of employee trends — both current and historical — to guide decisions on:</a:t>
            </a:r>
          </a:p>
          <a:p>
            <a:pPr marL="895335" lvl="1" indent="-285750">
              <a:buFont typeface="Arial" panose="020B0604020202020204" pitchFamily="34" charset="0"/>
              <a:buChar char="•"/>
            </a:pPr>
            <a:r>
              <a:rPr lang="en-US" sz="7200" dirty="0"/>
              <a:t>Hiring</a:t>
            </a:r>
          </a:p>
          <a:p>
            <a:pPr marL="895335" lvl="1" indent="-285750">
              <a:buFont typeface="Arial" panose="020B0604020202020204" pitchFamily="34" charset="0"/>
              <a:buChar char="•"/>
            </a:pPr>
            <a:r>
              <a:rPr lang="en-US" sz="7200" dirty="0"/>
              <a:t>Promotions</a:t>
            </a:r>
          </a:p>
          <a:p>
            <a:pPr marL="895335" lvl="1" indent="-285750">
              <a:buFont typeface="Arial" panose="020B0604020202020204" pitchFamily="34" charset="0"/>
              <a:buChar char="•"/>
            </a:pPr>
            <a:r>
              <a:rPr lang="en-US" sz="7200" dirty="0"/>
              <a:t>Organizational restructuring</a:t>
            </a:r>
          </a:p>
          <a:p>
            <a:endParaRPr lang="en-IN" dirty="0"/>
          </a:p>
        </p:txBody>
      </p:sp>
      <p:sp>
        <p:nvSpPr>
          <p:cNvPr id="3" name="Title 2">
            <a:extLst>
              <a:ext uri="{FF2B5EF4-FFF2-40B4-BE49-F238E27FC236}">
                <a16:creationId xmlns:a16="http://schemas.microsoft.com/office/drawing/2014/main" id="{2C4113E1-F7CE-08A4-0CD3-386F0A24F53F}"/>
              </a:ext>
            </a:extLst>
          </p:cNvPr>
          <p:cNvSpPr>
            <a:spLocks noGrp="1"/>
          </p:cNvSpPr>
          <p:nvPr>
            <p:ph type="title"/>
          </p:nvPr>
        </p:nvSpPr>
        <p:spPr>
          <a:xfrm>
            <a:off x="424628" y="564357"/>
            <a:ext cx="10675200" cy="1137600"/>
          </a:xfrm>
        </p:spPr>
        <p:txBody>
          <a:bodyPr/>
          <a:lstStyle/>
          <a:p>
            <a:r>
              <a:rPr lang="en-IN" sz="2800" dirty="0">
                <a:solidFill>
                  <a:prstClr val="black">
                    <a:lumMod val="85000"/>
                    <a:lumOff val="15000"/>
                  </a:prstClr>
                </a:solidFill>
                <a:latin typeface="Arial"/>
                <a:cs typeface="Arial"/>
                <a:sym typeface="Arial"/>
              </a:rPr>
              <a:t>Business Context :</a:t>
            </a:r>
            <a:br>
              <a:rPr lang="en-IN" sz="2800" dirty="0">
                <a:solidFill>
                  <a:prstClr val="black">
                    <a:lumMod val="85000"/>
                    <a:lumOff val="15000"/>
                  </a:prstClr>
                </a:solidFill>
                <a:latin typeface="Arial"/>
                <a:cs typeface="Arial"/>
                <a:sym typeface="Arial"/>
              </a:rPr>
            </a:br>
            <a:endParaRPr lang="en-IN" dirty="0"/>
          </a:p>
        </p:txBody>
      </p:sp>
    </p:spTree>
    <p:extLst>
      <p:ext uri="{BB962C8B-B14F-4D97-AF65-F5344CB8AC3E}">
        <p14:creationId xmlns:p14="http://schemas.microsoft.com/office/powerpoint/2010/main" val="44207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16EFF-11F9-C74F-7833-967AD147598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101A07-670C-26C8-208E-B9A3CE899827}"/>
              </a:ext>
            </a:extLst>
          </p:cNvPr>
          <p:cNvSpPr>
            <a:spLocks noGrp="1"/>
          </p:cNvSpPr>
          <p:nvPr>
            <p:ph type="body" idx="1"/>
          </p:nvPr>
        </p:nvSpPr>
        <p:spPr>
          <a:xfrm>
            <a:off x="838200" y="1701957"/>
            <a:ext cx="10515600" cy="3955636"/>
          </a:xfrm>
        </p:spPr>
        <p:txBody>
          <a:bodyPr>
            <a:normAutofit/>
          </a:bodyPr>
          <a:lstStyle/>
          <a:p>
            <a:pPr marL="186262" indent="0">
              <a:buNone/>
            </a:pPr>
            <a:r>
              <a:rPr lang="en-US" sz="1800" dirty="0"/>
              <a:t>To analyze employee demographics, performance, attrition trends, and departmental structures to deliver insights that:</a:t>
            </a:r>
          </a:p>
          <a:p>
            <a:r>
              <a:rPr lang="en-US" sz="1800" dirty="0"/>
              <a:t>Improve talent retention strategies</a:t>
            </a:r>
          </a:p>
          <a:p>
            <a:r>
              <a:rPr lang="en-US" sz="1800" dirty="0"/>
              <a:t>Identify performance bottlenecks</a:t>
            </a:r>
          </a:p>
          <a:p>
            <a:r>
              <a:rPr lang="en-US" sz="1800" dirty="0"/>
              <a:t>Support department-level workforce planning</a:t>
            </a:r>
          </a:p>
          <a:p>
            <a:r>
              <a:rPr lang="en-US" sz="1800" dirty="0"/>
              <a:t>Forecast potential risks such as high attrition or skill gaps</a:t>
            </a:r>
          </a:p>
          <a:p>
            <a:endParaRPr lang="en-IN" dirty="0"/>
          </a:p>
        </p:txBody>
      </p:sp>
      <p:sp>
        <p:nvSpPr>
          <p:cNvPr id="3" name="Title 2">
            <a:extLst>
              <a:ext uri="{FF2B5EF4-FFF2-40B4-BE49-F238E27FC236}">
                <a16:creationId xmlns:a16="http://schemas.microsoft.com/office/drawing/2014/main" id="{3184B2BF-6DFB-CDEB-AF73-E420B68D9C86}"/>
              </a:ext>
            </a:extLst>
          </p:cNvPr>
          <p:cNvSpPr>
            <a:spLocks noGrp="1"/>
          </p:cNvSpPr>
          <p:nvPr>
            <p:ph type="title"/>
          </p:nvPr>
        </p:nvSpPr>
        <p:spPr>
          <a:xfrm>
            <a:off x="424628" y="564357"/>
            <a:ext cx="10675200" cy="1137600"/>
          </a:xfrm>
        </p:spPr>
        <p:txBody>
          <a:bodyPr/>
          <a:lstStyle/>
          <a:p>
            <a:r>
              <a:rPr lang="en-IN" sz="2800" dirty="0">
                <a:solidFill>
                  <a:prstClr val="black">
                    <a:lumMod val="85000"/>
                    <a:lumOff val="15000"/>
                  </a:prstClr>
                </a:solidFill>
                <a:latin typeface="Arial"/>
                <a:cs typeface="Arial"/>
                <a:sym typeface="Arial"/>
              </a:rPr>
              <a:t>Problem Statement :</a:t>
            </a:r>
            <a:br>
              <a:rPr lang="en-IN" sz="2800" dirty="0">
                <a:solidFill>
                  <a:prstClr val="black">
                    <a:lumMod val="85000"/>
                    <a:lumOff val="15000"/>
                  </a:prstClr>
                </a:solidFill>
                <a:latin typeface="Arial"/>
                <a:cs typeface="Arial"/>
                <a:sym typeface="Arial"/>
              </a:rPr>
            </a:br>
            <a:endParaRPr lang="en-IN" dirty="0"/>
          </a:p>
        </p:txBody>
      </p:sp>
    </p:spTree>
    <p:extLst>
      <p:ext uri="{BB962C8B-B14F-4D97-AF65-F5344CB8AC3E}">
        <p14:creationId xmlns:p14="http://schemas.microsoft.com/office/powerpoint/2010/main" val="3028541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70061-2E53-2A34-A8D0-F20AD0B106B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D31C380-AD74-78E5-8D34-D8236DDD9CCA}"/>
              </a:ext>
            </a:extLst>
          </p:cNvPr>
          <p:cNvSpPr>
            <a:spLocks noGrp="1"/>
          </p:cNvSpPr>
          <p:nvPr>
            <p:ph type="body" idx="1"/>
          </p:nvPr>
        </p:nvSpPr>
        <p:spPr>
          <a:xfrm>
            <a:off x="838200" y="1701957"/>
            <a:ext cx="10515600" cy="3955636"/>
          </a:xfrm>
        </p:spPr>
        <p:txBody>
          <a:bodyPr>
            <a:normAutofit/>
          </a:bodyPr>
          <a:lstStyle/>
          <a:p>
            <a:pPr marL="186262" indent="0">
              <a:buNone/>
            </a:pPr>
            <a:r>
              <a:rPr lang="en-US" sz="1800" b="1" dirty="0"/>
              <a:t>HR and Leadership team</a:t>
            </a:r>
          </a:p>
          <a:p>
            <a:pPr marL="186262" indent="0">
              <a:buNone/>
            </a:pPr>
            <a:endParaRPr lang="en-US" sz="1800" dirty="0"/>
          </a:p>
          <a:p>
            <a:pPr marL="186262" indent="0">
              <a:buNone/>
            </a:pPr>
            <a:r>
              <a:rPr lang="en-US" sz="1800" dirty="0"/>
              <a:t>They would use it to:</a:t>
            </a:r>
          </a:p>
          <a:p>
            <a:r>
              <a:rPr lang="en-US" sz="1800" dirty="0"/>
              <a:t>Improve retention strategies</a:t>
            </a:r>
          </a:p>
          <a:p>
            <a:r>
              <a:rPr lang="en-US" sz="1800" dirty="0"/>
              <a:t>Monitor attrition</a:t>
            </a:r>
          </a:p>
          <a:p>
            <a:r>
              <a:rPr lang="en-US" sz="1800" dirty="0"/>
              <a:t>Plan hiring</a:t>
            </a:r>
          </a:p>
          <a:p>
            <a:r>
              <a:rPr lang="en-US" sz="1800" dirty="0"/>
              <a:t>Identify performance issues</a:t>
            </a:r>
          </a:p>
          <a:p>
            <a:r>
              <a:rPr lang="en-US" sz="1800" dirty="0"/>
              <a:t>Design training programs</a:t>
            </a:r>
          </a:p>
          <a:p>
            <a:endParaRPr lang="en-IN" dirty="0"/>
          </a:p>
        </p:txBody>
      </p:sp>
      <p:sp>
        <p:nvSpPr>
          <p:cNvPr id="3" name="Title 2">
            <a:extLst>
              <a:ext uri="{FF2B5EF4-FFF2-40B4-BE49-F238E27FC236}">
                <a16:creationId xmlns:a16="http://schemas.microsoft.com/office/drawing/2014/main" id="{4A92336A-CBA4-843F-31C5-5A8D0BCDBBC6}"/>
              </a:ext>
            </a:extLst>
          </p:cNvPr>
          <p:cNvSpPr>
            <a:spLocks noGrp="1"/>
          </p:cNvSpPr>
          <p:nvPr>
            <p:ph type="title"/>
          </p:nvPr>
        </p:nvSpPr>
        <p:spPr>
          <a:xfrm>
            <a:off x="424628" y="564357"/>
            <a:ext cx="10675200" cy="1137600"/>
          </a:xfrm>
        </p:spPr>
        <p:txBody>
          <a:bodyPr/>
          <a:lstStyle/>
          <a:p>
            <a:r>
              <a:rPr lang="en-IN" sz="2800" dirty="0">
                <a:solidFill>
                  <a:prstClr val="black">
                    <a:lumMod val="85000"/>
                    <a:lumOff val="15000"/>
                  </a:prstClr>
                </a:solidFill>
                <a:latin typeface="Arial"/>
                <a:cs typeface="Arial"/>
                <a:sym typeface="Arial"/>
              </a:rPr>
              <a:t>Stakeholders for this project :</a:t>
            </a:r>
            <a:br>
              <a:rPr lang="en-IN" sz="2800" dirty="0">
                <a:solidFill>
                  <a:prstClr val="black">
                    <a:lumMod val="85000"/>
                    <a:lumOff val="15000"/>
                  </a:prstClr>
                </a:solidFill>
                <a:latin typeface="Arial"/>
                <a:cs typeface="Arial"/>
                <a:sym typeface="Arial"/>
              </a:rPr>
            </a:br>
            <a:endParaRPr lang="en-IN" dirty="0"/>
          </a:p>
        </p:txBody>
      </p:sp>
    </p:spTree>
    <p:extLst>
      <p:ext uri="{BB962C8B-B14F-4D97-AF65-F5344CB8AC3E}">
        <p14:creationId xmlns:p14="http://schemas.microsoft.com/office/powerpoint/2010/main" val="4071109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121CEB-EC65-01FF-C28F-E71D1D912790}"/>
              </a:ext>
            </a:extLst>
          </p:cNvPr>
          <p:cNvSpPr>
            <a:spLocks noGrp="1"/>
          </p:cNvSpPr>
          <p:nvPr>
            <p:ph type="body" idx="1"/>
          </p:nvPr>
        </p:nvSpPr>
        <p:spPr>
          <a:xfrm>
            <a:off x="838200" y="1280459"/>
            <a:ext cx="10515600" cy="5034616"/>
          </a:xfrm>
        </p:spPr>
        <p:txBody>
          <a:bodyPr>
            <a:normAutofit/>
          </a:bodyPr>
          <a:lstStyle/>
          <a:p>
            <a:pPr marL="186262" indent="0">
              <a:buNone/>
            </a:pPr>
            <a:r>
              <a:rPr lang="en-IN" sz="1800" dirty="0"/>
              <a:t>Use of Excel, </a:t>
            </a:r>
            <a:r>
              <a:rPr lang="en-IN" sz="1800" dirty="0" err="1"/>
              <a:t>Sql</a:t>
            </a:r>
            <a:r>
              <a:rPr lang="en-IN" sz="1800" dirty="0"/>
              <a:t> and Power BI in this project:</a:t>
            </a:r>
          </a:p>
          <a:p>
            <a:r>
              <a:rPr lang="en-IN" sz="1800" dirty="0"/>
              <a:t>Excel is used to do Exploratory Data Analysis. We check what data is available and what are the errors that needs to be cleaned before proceeding with the data.</a:t>
            </a:r>
          </a:p>
          <a:p>
            <a:r>
              <a:rPr lang="en-IN" sz="1800" dirty="0"/>
              <a:t>We will make Pivot Tables and create different summaries from this data.</a:t>
            </a:r>
          </a:p>
          <a:p>
            <a:endParaRPr lang="en-IN" sz="1800" dirty="0"/>
          </a:p>
          <a:p>
            <a:r>
              <a:rPr lang="en-IN" sz="1800" dirty="0" err="1"/>
              <a:t>Sql</a:t>
            </a:r>
            <a:r>
              <a:rPr lang="en-IN" sz="1800" dirty="0"/>
              <a:t> is used to create more useful summaries on this data.</a:t>
            </a:r>
          </a:p>
          <a:p>
            <a:r>
              <a:rPr lang="en-IN" sz="1800" dirty="0"/>
              <a:t>We use </a:t>
            </a:r>
            <a:r>
              <a:rPr lang="en-IN" sz="1800" dirty="0" err="1"/>
              <a:t>Sql</a:t>
            </a:r>
            <a:r>
              <a:rPr lang="en-IN" sz="1800" dirty="0"/>
              <a:t> to join both the tables used in this project to get a single table with all the data.</a:t>
            </a:r>
          </a:p>
          <a:p>
            <a:endParaRPr lang="en-IN" sz="1800" dirty="0"/>
          </a:p>
          <a:p>
            <a:r>
              <a:rPr lang="en-IN" sz="1800" dirty="0"/>
              <a:t>We use Power BI to create a model from the 2 tables.</a:t>
            </a:r>
          </a:p>
          <a:p>
            <a:r>
              <a:rPr lang="en-IN" sz="1800" dirty="0"/>
              <a:t>We create DAX in Power BI. We create various Visualizations and KPI’s in Power BI.</a:t>
            </a:r>
          </a:p>
          <a:p>
            <a:r>
              <a:rPr lang="en-IN" sz="1800" dirty="0"/>
              <a:t>We also create interactive filtering, using slicers etc.</a:t>
            </a:r>
          </a:p>
          <a:p>
            <a:r>
              <a:rPr lang="en-IN" sz="1800" dirty="0"/>
              <a:t>Ultimately, we create an interactive Dashboard with Visualizations, KPI’s and Slicers which gives us understanding and insights of the data and enables us to make decisions.</a:t>
            </a:r>
          </a:p>
        </p:txBody>
      </p:sp>
      <p:sp>
        <p:nvSpPr>
          <p:cNvPr id="3" name="Title 2">
            <a:extLst>
              <a:ext uri="{FF2B5EF4-FFF2-40B4-BE49-F238E27FC236}">
                <a16:creationId xmlns:a16="http://schemas.microsoft.com/office/drawing/2014/main" id="{DF2104C5-5478-B449-0381-71C70F6E9912}"/>
              </a:ext>
            </a:extLst>
          </p:cNvPr>
          <p:cNvSpPr>
            <a:spLocks noGrp="1"/>
          </p:cNvSpPr>
          <p:nvPr>
            <p:ph type="title"/>
          </p:nvPr>
        </p:nvSpPr>
        <p:spPr/>
        <p:txBody>
          <a:bodyPr/>
          <a:lstStyle/>
          <a:p>
            <a:r>
              <a:rPr lang="en-IN" sz="2800" dirty="0"/>
              <a:t>Technology Stack :</a:t>
            </a:r>
          </a:p>
        </p:txBody>
      </p:sp>
    </p:spTree>
    <p:extLst>
      <p:ext uri="{BB962C8B-B14F-4D97-AF65-F5344CB8AC3E}">
        <p14:creationId xmlns:p14="http://schemas.microsoft.com/office/powerpoint/2010/main" val="3304521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B3893-64AC-0C78-D5E8-AFF2ABDA1F7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694CDA-45BD-A84A-78A6-C0F5B8E56A80}"/>
              </a:ext>
            </a:extLst>
          </p:cNvPr>
          <p:cNvSpPr>
            <a:spLocks noGrp="1"/>
          </p:cNvSpPr>
          <p:nvPr>
            <p:ph type="title"/>
          </p:nvPr>
        </p:nvSpPr>
        <p:spPr>
          <a:xfrm>
            <a:off x="424628" y="155350"/>
            <a:ext cx="10675200" cy="1137600"/>
          </a:xfrm>
        </p:spPr>
        <p:txBody>
          <a:bodyPr/>
          <a:lstStyle/>
          <a:p>
            <a:r>
              <a:rPr lang="en-IN" sz="2800" dirty="0">
                <a:solidFill>
                  <a:prstClr val="black">
                    <a:lumMod val="85000"/>
                    <a:lumOff val="15000"/>
                  </a:prstClr>
                </a:solidFill>
                <a:latin typeface="Arial"/>
                <a:cs typeface="Arial"/>
                <a:sym typeface="Arial"/>
              </a:rPr>
              <a:t>Data Dictionary :</a:t>
            </a:r>
            <a:br>
              <a:rPr lang="en-IN" sz="2800" dirty="0">
                <a:solidFill>
                  <a:prstClr val="black">
                    <a:lumMod val="85000"/>
                    <a:lumOff val="15000"/>
                  </a:prstClr>
                </a:solidFill>
                <a:latin typeface="Arial"/>
                <a:cs typeface="Arial"/>
                <a:sym typeface="Arial"/>
              </a:rPr>
            </a:br>
            <a:endParaRPr lang="en-IN" dirty="0"/>
          </a:p>
        </p:txBody>
      </p:sp>
      <p:sp>
        <p:nvSpPr>
          <p:cNvPr id="10" name="Rectangle 3">
            <a:extLst>
              <a:ext uri="{FF2B5EF4-FFF2-40B4-BE49-F238E27FC236}">
                <a16:creationId xmlns:a16="http://schemas.microsoft.com/office/drawing/2014/main" id="{2EB6114D-5127-0EE7-A74F-1200B771D360}"/>
              </a:ext>
            </a:extLst>
          </p:cNvPr>
          <p:cNvSpPr>
            <a:spLocks noChangeArrowheads="1"/>
          </p:cNvSpPr>
          <p:nvPr/>
        </p:nvSpPr>
        <p:spPr bwMode="auto">
          <a:xfrm>
            <a:off x="424628" y="934046"/>
            <a:ext cx="19500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Emp_Info</a:t>
            </a:r>
            <a:r>
              <a:rPr kumimoji="0" lang="en-US" altLang="en-US" b="1" i="0" u="none" strike="noStrike" cap="none" normalizeH="0" baseline="0" dirty="0">
                <a:ln>
                  <a:noFill/>
                </a:ln>
                <a:solidFill>
                  <a:schemeClr val="tx1"/>
                </a:solidFill>
                <a:effectLst/>
                <a:latin typeface="Arial" panose="020B0604020202020204" pitchFamily="34" charset="0"/>
              </a:rPr>
              <a:t> Table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3" name="Table 12">
            <a:extLst>
              <a:ext uri="{FF2B5EF4-FFF2-40B4-BE49-F238E27FC236}">
                <a16:creationId xmlns:a16="http://schemas.microsoft.com/office/drawing/2014/main" id="{0AEE1D85-C77B-8912-E1B7-F694DFBCD466}"/>
              </a:ext>
            </a:extLst>
          </p:cNvPr>
          <p:cNvGraphicFramePr>
            <a:graphicFrameLocks noGrp="1"/>
          </p:cNvGraphicFramePr>
          <p:nvPr>
            <p:extLst>
              <p:ext uri="{D42A27DB-BD31-4B8C-83A1-F6EECF244321}">
                <p14:modId xmlns:p14="http://schemas.microsoft.com/office/powerpoint/2010/main" val="950720664"/>
              </p:ext>
            </p:extLst>
          </p:nvPr>
        </p:nvGraphicFramePr>
        <p:xfrm>
          <a:off x="7589071" y="1399119"/>
          <a:ext cx="3655191" cy="772581"/>
        </p:xfrm>
        <a:graphic>
          <a:graphicData uri="http://schemas.openxmlformats.org/drawingml/2006/table">
            <a:tbl>
              <a:tblPr>
                <a:tableStyleId>{5C22544A-7EE6-4342-B048-85BDC9FD1C3A}</a:tableStyleId>
              </a:tblPr>
              <a:tblGrid>
                <a:gridCol w="1208451">
                  <a:extLst>
                    <a:ext uri="{9D8B030D-6E8A-4147-A177-3AD203B41FA5}">
                      <a16:colId xmlns:a16="http://schemas.microsoft.com/office/drawing/2014/main" val="3664188216"/>
                    </a:ext>
                  </a:extLst>
                </a:gridCol>
                <a:gridCol w="2446740">
                  <a:extLst>
                    <a:ext uri="{9D8B030D-6E8A-4147-A177-3AD203B41FA5}">
                      <a16:colId xmlns:a16="http://schemas.microsoft.com/office/drawing/2014/main" val="3250412719"/>
                    </a:ext>
                  </a:extLst>
                </a:gridCol>
              </a:tblGrid>
              <a:tr h="257527">
                <a:tc>
                  <a:txBody>
                    <a:bodyPr/>
                    <a:lstStyle/>
                    <a:p>
                      <a:pPr algn="ctr" fontAlgn="b">
                        <a:buNone/>
                      </a:pPr>
                      <a:r>
                        <a:rPr lang="en-IN" sz="1600" u="none" strike="noStrike">
                          <a:solidFill>
                            <a:srgbClr val="FF0000"/>
                          </a:solidFill>
                          <a:effectLst/>
                        </a:rPr>
                        <a:t>Columns</a:t>
                      </a:r>
                      <a:endParaRPr lang="en-IN" sz="1600" b="1" i="0" u="none" strike="noStrike">
                        <a:solidFill>
                          <a:srgbClr val="FF0000"/>
                        </a:solidFill>
                        <a:effectLst/>
                        <a:latin typeface="Calibri" panose="020F0502020204030204" pitchFamily="34" charset="0"/>
                      </a:endParaRPr>
                    </a:p>
                  </a:txBody>
                  <a:tcPr marL="7620" marR="7620" marT="7620" marB="0" anchor="b"/>
                </a:tc>
                <a:tc>
                  <a:txBody>
                    <a:bodyPr/>
                    <a:lstStyle/>
                    <a:p>
                      <a:pPr algn="ctr" fontAlgn="b">
                        <a:buNone/>
                      </a:pPr>
                      <a:r>
                        <a:rPr lang="en-IN" sz="1600" u="none" strike="noStrike" dirty="0">
                          <a:solidFill>
                            <a:srgbClr val="FF0000"/>
                          </a:solidFill>
                          <a:effectLst/>
                        </a:rPr>
                        <a:t>Description</a:t>
                      </a:r>
                      <a:endParaRPr lang="en-IN" sz="1600" b="1" i="0" u="none" strike="noStrike" dirty="0">
                        <a:solidFill>
                          <a:srgbClr val="FF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83075930"/>
                  </a:ext>
                </a:extLst>
              </a:tr>
              <a:tr h="257527">
                <a:tc>
                  <a:txBody>
                    <a:bodyPr/>
                    <a:lstStyle/>
                    <a:p>
                      <a:pPr algn="ctr" fontAlgn="b">
                        <a:buNone/>
                      </a:pPr>
                      <a:r>
                        <a:rPr lang="en-IN" sz="1600" u="none" strike="noStrike" dirty="0" err="1">
                          <a:effectLst/>
                        </a:rPr>
                        <a:t>Dept_id</a:t>
                      </a:r>
                      <a:endParaRPr lang="en-IN" sz="1600" b="0" i="1"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u="none" strike="noStrike">
                          <a:effectLst/>
                        </a:rPr>
                        <a:t>Department id</a:t>
                      </a:r>
                      <a:endParaRPr lang="en-IN"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16679381"/>
                  </a:ext>
                </a:extLst>
              </a:tr>
              <a:tr h="257527">
                <a:tc>
                  <a:txBody>
                    <a:bodyPr/>
                    <a:lstStyle/>
                    <a:p>
                      <a:pPr algn="ctr" fontAlgn="b">
                        <a:buNone/>
                      </a:pPr>
                      <a:r>
                        <a:rPr lang="en-IN" sz="1600" u="none" strike="noStrike">
                          <a:effectLst/>
                        </a:rPr>
                        <a:t>Dep_Name</a:t>
                      </a:r>
                      <a:endParaRPr lang="en-IN" sz="1600" b="0" i="1"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u="none" strike="noStrike" dirty="0">
                          <a:effectLst/>
                        </a:rPr>
                        <a:t>Name of the department</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67724363"/>
                  </a:ext>
                </a:extLst>
              </a:tr>
            </a:tbl>
          </a:graphicData>
        </a:graphic>
      </p:graphicFrame>
      <p:sp>
        <p:nvSpPr>
          <p:cNvPr id="14" name="Rectangle 3">
            <a:extLst>
              <a:ext uri="{FF2B5EF4-FFF2-40B4-BE49-F238E27FC236}">
                <a16:creationId xmlns:a16="http://schemas.microsoft.com/office/drawing/2014/main" id="{2EFF4AFF-4B67-3415-F6DB-62F78B045286}"/>
              </a:ext>
            </a:extLst>
          </p:cNvPr>
          <p:cNvSpPr>
            <a:spLocks noChangeArrowheads="1"/>
          </p:cNvSpPr>
          <p:nvPr/>
        </p:nvSpPr>
        <p:spPr bwMode="auto">
          <a:xfrm>
            <a:off x="7485034" y="934045"/>
            <a:ext cx="18987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err="1">
                <a:latin typeface="Arial" panose="020B0604020202020204" pitchFamily="34" charset="0"/>
              </a:rPr>
              <a:t>Dept</a:t>
            </a:r>
            <a:r>
              <a:rPr kumimoji="0" lang="en-US" altLang="en-US" b="1" i="0" u="none" strike="noStrike" cap="none" normalizeH="0" baseline="0" dirty="0" err="1">
                <a:ln>
                  <a:noFill/>
                </a:ln>
                <a:solidFill>
                  <a:schemeClr val="tx1"/>
                </a:solidFill>
                <a:effectLst/>
                <a:latin typeface="Arial" panose="020B0604020202020204" pitchFamily="34" charset="0"/>
              </a:rPr>
              <a:t>_Info</a:t>
            </a:r>
            <a:r>
              <a:rPr kumimoji="0" lang="en-US" altLang="en-US" b="1" i="0" u="none" strike="noStrike" cap="none" normalizeH="0" baseline="0" dirty="0">
                <a:ln>
                  <a:noFill/>
                </a:ln>
                <a:solidFill>
                  <a:schemeClr val="tx1"/>
                </a:solidFill>
                <a:effectLst/>
                <a:latin typeface="Arial" panose="020B0604020202020204" pitchFamily="34" charset="0"/>
              </a:rPr>
              <a:t> Table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D53F018C-4D60-43B3-B669-5B34C373C2D6}"/>
              </a:ext>
            </a:extLst>
          </p:cNvPr>
          <p:cNvGraphicFramePr>
            <a:graphicFrameLocks noGrp="1"/>
          </p:cNvGraphicFramePr>
          <p:nvPr>
            <p:extLst>
              <p:ext uri="{D42A27DB-BD31-4B8C-83A1-F6EECF244321}">
                <p14:modId xmlns:p14="http://schemas.microsoft.com/office/powerpoint/2010/main" val="1678131977"/>
              </p:ext>
            </p:extLst>
          </p:nvPr>
        </p:nvGraphicFramePr>
        <p:xfrm>
          <a:off x="522287" y="1308846"/>
          <a:ext cx="6757193" cy="4858908"/>
        </p:xfrm>
        <a:graphic>
          <a:graphicData uri="http://schemas.openxmlformats.org/drawingml/2006/table">
            <a:tbl>
              <a:tblPr>
                <a:tableStyleId>{5C22544A-7EE6-4342-B048-85BDC9FD1C3A}</a:tableStyleId>
              </a:tblPr>
              <a:tblGrid>
                <a:gridCol w="2421569">
                  <a:extLst>
                    <a:ext uri="{9D8B030D-6E8A-4147-A177-3AD203B41FA5}">
                      <a16:colId xmlns:a16="http://schemas.microsoft.com/office/drawing/2014/main" val="3146468329"/>
                    </a:ext>
                  </a:extLst>
                </a:gridCol>
                <a:gridCol w="4335624">
                  <a:extLst>
                    <a:ext uri="{9D8B030D-6E8A-4147-A177-3AD203B41FA5}">
                      <a16:colId xmlns:a16="http://schemas.microsoft.com/office/drawing/2014/main" val="2718259346"/>
                    </a:ext>
                  </a:extLst>
                </a:gridCol>
              </a:tblGrid>
              <a:tr h="260758">
                <a:tc>
                  <a:txBody>
                    <a:bodyPr/>
                    <a:lstStyle/>
                    <a:p>
                      <a:pPr algn="ctr" fontAlgn="b">
                        <a:buNone/>
                      </a:pPr>
                      <a:r>
                        <a:rPr lang="en-IN" sz="1600" u="none" strike="noStrike">
                          <a:solidFill>
                            <a:srgbClr val="FF0000"/>
                          </a:solidFill>
                          <a:effectLst/>
                        </a:rPr>
                        <a:t>Columns</a:t>
                      </a:r>
                      <a:endParaRPr lang="en-IN" sz="1600" b="1" i="0" u="none" strike="noStrike">
                        <a:solidFill>
                          <a:srgbClr val="FF0000"/>
                        </a:solidFill>
                        <a:effectLst/>
                        <a:latin typeface="Calibri" panose="020F0502020204030204" pitchFamily="34" charset="0"/>
                      </a:endParaRPr>
                    </a:p>
                  </a:txBody>
                  <a:tcPr marL="7620" marR="7620" marT="7620" marB="0" anchor="b"/>
                </a:tc>
                <a:tc>
                  <a:txBody>
                    <a:bodyPr/>
                    <a:lstStyle/>
                    <a:p>
                      <a:pPr algn="ctr" fontAlgn="b">
                        <a:buNone/>
                      </a:pPr>
                      <a:r>
                        <a:rPr lang="en-IN" sz="1600" u="none" strike="noStrike" dirty="0">
                          <a:solidFill>
                            <a:srgbClr val="FF0000"/>
                          </a:solidFill>
                          <a:effectLst/>
                        </a:rPr>
                        <a:t>Description</a:t>
                      </a:r>
                      <a:endParaRPr lang="en-IN" sz="1600" b="1" i="0" u="none" strike="noStrike" dirty="0">
                        <a:solidFill>
                          <a:srgbClr val="FF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16403339"/>
                  </a:ext>
                </a:extLst>
              </a:tr>
              <a:tr h="260758">
                <a:tc>
                  <a:txBody>
                    <a:bodyPr/>
                    <a:lstStyle/>
                    <a:p>
                      <a:pPr algn="ctr" fontAlgn="b">
                        <a:buNone/>
                      </a:pPr>
                      <a:r>
                        <a:rPr lang="en-IN" sz="1600" u="none" strike="noStrike">
                          <a:effectLst/>
                        </a:rPr>
                        <a:t>Emp_Id</a:t>
                      </a:r>
                      <a:endParaRPr lang="en-IN" sz="1600" b="0" i="1"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u="none" strike="noStrike" dirty="0" err="1">
                          <a:effectLst/>
                        </a:rPr>
                        <a:t>Employee_id</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71903628"/>
                  </a:ext>
                </a:extLst>
              </a:tr>
              <a:tr h="260758">
                <a:tc>
                  <a:txBody>
                    <a:bodyPr/>
                    <a:lstStyle/>
                    <a:p>
                      <a:pPr algn="ctr" fontAlgn="b">
                        <a:buNone/>
                      </a:pPr>
                      <a:r>
                        <a:rPr lang="en-IN" sz="1600" u="none" strike="noStrike">
                          <a:effectLst/>
                        </a:rPr>
                        <a:t>DOB</a:t>
                      </a:r>
                      <a:endParaRPr lang="en-IN" sz="1600" b="0" i="1"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u="none" strike="noStrike">
                          <a:effectLst/>
                        </a:rPr>
                        <a:t>Date of Birth</a:t>
                      </a:r>
                      <a:endParaRPr lang="en-IN"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48532100"/>
                  </a:ext>
                </a:extLst>
              </a:tr>
              <a:tr h="260758">
                <a:tc>
                  <a:txBody>
                    <a:bodyPr/>
                    <a:lstStyle/>
                    <a:p>
                      <a:pPr algn="ctr" fontAlgn="b">
                        <a:buNone/>
                      </a:pPr>
                      <a:r>
                        <a:rPr lang="en-IN" sz="1600" u="none" strike="noStrike" dirty="0" err="1">
                          <a:effectLst/>
                        </a:rPr>
                        <a:t>First_name</a:t>
                      </a:r>
                      <a:endParaRPr lang="en-IN" sz="1600" b="0" i="1"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u="none" strike="noStrike">
                          <a:effectLst/>
                        </a:rPr>
                        <a:t>First name of employee</a:t>
                      </a:r>
                      <a:endParaRPr lang="en-IN"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00434916"/>
                  </a:ext>
                </a:extLst>
              </a:tr>
              <a:tr h="260758">
                <a:tc>
                  <a:txBody>
                    <a:bodyPr/>
                    <a:lstStyle/>
                    <a:p>
                      <a:pPr algn="ctr" fontAlgn="b">
                        <a:buNone/>
                      </a:pPr>
                      <a:r>
                        <a:rPr lang="en-IN" sz="1600" u="none" strike="noStrike" dirty="0" err="1">
                          <a:effectLst/>
                        </a:rPr>
                        <a:t>Last_name</a:t>
                      </a:r>
                      <a:endParaRPr lang="en-IN" sz="1600" b="0" i="1"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u="none" strike="noStrike">
                          <a:effectLst/>
                        </a:rPr>
                        <a:t>Last name of employee</a:t>
                      </a:r>
                      <a:endParaRPr lang="en-IN"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55735925"/>
                  </a:ext>
                </a:extLst>
              </a:tr>
              <a:tr h="260758">
                <a:tc>
                  <a:txBody>
                    <a:bodyPr/>
                    <a:lstStyle/>
                    <a:p>
                      <a:pPr algn="ctr" fontAlgn="b">
                        <a:buNone/>
                      </a:pPr>
                      <a:r>
                        <a:rPr lang="en-IN" sz="1600" u="none" strike="noStrike">
                          <a:effectLst/>
                        </a:rPr>
                        <a:t>Gender</a:t>
                      </a:r>
                      <a:endParaRPr lang="en-IN" sz="1600" b="0" i="1"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600" u="none" strike="noStrike">
                          <a:effectLst/>
                        </a:rPr>
                        <a:t>Gender of employee, male or female</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44550016"/>
                  </a:ext>
                </a:extLst>
              </a:tr>
              <a:tr h="260758">
                <a:tc>
                  <a:txBody>
                    <a:bodyPr/>
                    <a:lstStyle/>
                    <a:p>
                      <a:pPr algn="ctr" fontAlgn="b">
                        <a:buNone/>
                      </a:pPr>
                      <a:r>
                        <a:rPr lang="en-IN" sz="1600" u="none" strike="noStrike">
                          <a:effectLst/>
                        </a:rPr>
                        <a:t>DoJ</a:t>
                      </a:r>
                      <a:endParaRPr lang="en-IN" sz="1600" b="0" i="1"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u="none" strike="noStrike">
                          <a:effectLst/>
                        </a:rPr>
                        <a:t>Date of Joining/ Hiring</a:t>
                      </a:r>
                      <a:endParaRPr lang="en-IN"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47318575"/>
                  </a:ext>
                </a:extLst>
              </a:tr>
              <a:tr h="260758">
                <a:tc>
                  <a:txBody>
                    <a:bodyPr/>
                    <a:lstStyle/>
                    <a:p>
                      <a:pPr algn="ctr" fontAlgn="b">
                        <a:buNone/>
                      </a:pPr>
                      <a:r>
                        <a:rPr lang="en-IN" sz="1600" u="none" strike="noStrike" dirty="0">
                          <a:effectLst/>
                        </a:rPr>
                        <a:t>Projects</a:t>
                      </a:r>
                      <a:endParaRPr lang="en-IN" sz="1600" b="0" i="1"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600" u="none" strike="noStrike">
                          <a:effectLst/>
                        </a:rPr>
                        <a:t>Number of projects worked on</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41198914"/>
                  </a:ext>
                </a:extLst>
              </a:tr>
              <a:tr h="478313">
                <a:tc>
                  <a:txBody>
                    <a:bodyPr/>
                    <a:lstStyle/>
                    <a:p>
                      <a:pPr algn="ctr" fontAlgn="b">
                        <a:buNone/>
                      </a:pPr>
                      <a:r>
                        <a:rPr lang="en-IN" sz="1600" u="none" strike="noStrike">
                          <a:effectLst/>
                        </a:rPr>
                        <a:t>Last_performance_rating</a:t>
                      </a:r>
                      <a:endParaRPr lang="en-IN" sz="1600" b="0" i="1"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600" u="none" strike="noStrike">
                          <a:effectLst/>
                        </a:rPr>
                        <a:t>Last year performance ratin--&gt; A, B, C, PIP &amp; S</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38224487"/>
                  </a:ext>
                </a:extLst>
              </a:tr>
              <a:tr h="478313">
                <a:tc>
                  <a:txBody>
                    <a:bodyPr/>
                    <a:lstStyle/>
                    <a:p>
                      <a:pPr algn="ctr" fontAlgn="b">
                        <a:buNone/>
                      </a:pPr>
                      <a:r>
                        <a:rPr lang="en-IN" sz="1600" u="none" strike="noStrike" dirty="0">
                          <a:effectLst/>
                        </a:rPr>
                        <a:t>Left</a:t>
                      </a:r>
                      <a:endParaRPr lang="en-IN" sz="1600" b="0" i="1"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600" u="none" strike="noStrike">
                          <a:effectLst/>
                        </a:rPr>
                        <a:t>Employee left the organization or not? i.e. 0 or 1</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61237443"/>
                  </a:ext>
                </a:extLst>
              </a:tr>
              <a:tr h="260758">
                <a:tc>
                  <a:txBody>
                    <a:bodyPr/>
                    <a:lstStyle/>
                    <a:p>
                      <a:pPr algn="ctr" fontAlgn="b">
                        <a:buNone/>
                      </a:pPr>
                      <a:r>
                        <a:rPr lang="en-IN" sz="1600" u="none" strike="noStrike" dirty="0" err="1">
                          <a:effectLst/>
                        </a:rPr>
                        <a:t>Last_date</a:t>
                      </a:r>
                      <a:endParaRPr lang="en-IN" sz="1600" b="0" i="1"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600" u="none" strike="noStrike">
                          <a:effectLst/>
                        </a:rPr>
                        <a:t>Last date of employement(Exit Date)</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77854254"/>
                  </a:ext>
                </a:extLst>
              </a:tr>
              <a:tr h="260758">
                <a:tc>
                  <a:txBody>
                    <a:bodyPr/>
                    <a:lstStyle/>
                    <a:p>
                      <a:pPr algn="ctr" fontAlgn="b">
                        <a:buNone/>
                      </a:pPr>
                      <a:r>
                        <a:rPr lang="en-IN" sz="1600" u="none" strike="noStrike">
                          <a:effectLst/>
                        </a:rPr>
                        <a:t>Salary</a:t>
                      </a:r>
                      <a:endParaRPr lang="en-IN" sz="1600" b="0" i="1"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u="none" strike="noStrike">
                          <a:effectLst/>
                        </a:rPr>
                        <a:t>Salary of employee</a:t>
                      </a:r>
                      <a:endParaRPr lang="en-IN"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36962538"/>
                  </a:ext>
                </a:extLst>
              </a:tr>
              <a:tr h="260758">
                <a:tc>
                  <a:txBody>
                    <a:bodyPr/>
                    <a:lstStyle/>
                    <a:p>
                      <a:pPr algn="ctr" fontAlgn="b">
                        <a:buNone/>
                      </a:pPr>
                      <a:r>
                        <a:rPr lang="en-IN" sz="1600" u="none" strike="noStrike">
                          <a:effectLst/>
                        </a:rPr>
                        <a:t>Dept_Id</a:t>
                      </a:r>
                      <a:endParaRPr lang="en-IN" sz="1600" b="0" i="1"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600" u="none" strike="noStrike">
                          <a:effectLst/>
                        </a:rPr>
                        <a:t>Id of Dept in which employee works</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26536884"/>
                  </a:ext>
                </a:extLst>
              </a:tr>
              <a:tr h="260758">
                <a:tc>
                  <a:txBody>
                    <a:bodyPr/>
                    <a:lstStyle/>
                    <a:p>
                      <a:pPr algn="ctr" fontAlgn="b">
                        <a:buNone/>
                      </a:pPr>
                      <a:r>
                        <a:rPr lang="en-IN" sz="1600" u="none" strike="noStrike">
                          <a:effectLst/>
                        </a:rPr>
                        <a:t>Title</a:t>
                      </a:r>
                      <a:endParaRPr lang="en-IN" sz="1600" b="0" i="1"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u="none" strike="noStrike">
                          <a:effectLst/>
                        </a:rPr>
                        <a:t>Designation of Employee</a:t>
                      </a:r>
                      <a:endParaRPr lang="en-IN"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07782861"/>
                  </a:ext>
                </a:extLst>
              </a:tr>
              <a:tr h="495441">
                <a:tc>
                  <a:txBody>
                    <a:bodyPr/>
                    <a:lstStyle/>
                    <a:p>
                      <a:pPr algn="ctr" fontAlgn="b">
                        <a:buNone/>
                      </a:pPr>
                      <a:r>
                        <a:rPr lang="en-IN" sz="1600" u="none" strike="noStrike">
                          <a:effectLst/>
                        </a:rPr>
                        <a:t>Performance issues</a:t>
                      </a:r>
                      <a:endParaRPr lang="en-IN" sz="1600" b="0" i="1"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600" u="none" strike="noStrike">
                          <a:effectLst/>
                        </a:rPr>
                        <a:t>Employee has performance issue or not? i.e 0 or 1</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0481453"/>
                  </a:ext>
                </a:extLst>
              </a:tr>
              <a:tr h="260758">
                <a:tc>
                  <a:txBody>
                    <a:bodyPr/>
                    <a:lstStyle/>
                    <a:p>
                      <a:pPr algn="ctr" fontAlgn="b">
                        <a:buNone/>
                      </a:pPr>
                      <a:r>
                        <a:rPr lang="en-IN" sz="1600" u="none" strike="noStrike">
                          <a:effectLst/>
                        </a:rPr>
                        <a:t>Rating</a:t>
                      </a:r>
                      <a:endParaRPr lang="en-IN" sz="1600" b="0" i="1"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u="none" strike="noStrike" dirty="0">
                          <a:effectLst/>
                        </a:rPr>
                        <a:t>S=5, A=4, B=3, C=2, PIP=1</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97738785"/>
                  </a:ext>
                </a:extLst>
              </a:tr>
            </a:tbl>
          </a:graphicData>
        </a:graphic>
      </p:graphicFrame>
    </p:spTree>
    <p:extLst>
      <p:ext uri="{BB962C8B-B14F-4D97-AF65-F5344CB8AC3E}">
        <p14:creationId xmlns:p14="http://schemas.microsoft.com/office/powerpoint/2010/main" val="1829208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2597E-CA44-9498-6C5F-D1905EC17A7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31163FE-137B-5052-6CA9-0663EF0EDECB}"/>
              </a:ext>
            </a:extLst>
          </p:cNvPr>
          <p:cNvSpPr>
            <a:spLocks noGrp="1"/>
          </p:cNvSpPr>
          <p:nvPr>
            <p:ph type="body" idx="1"/>
          </p:nvPr>
        </p:nvSpPr>
        <p:spPr>
          <a:xfrm>
            <a:off x="590550" y="742950"/>
            <a:ext cx="10763250" cy="5557838"/>
          </a:xfrm>
        </p:spPr>
        <p:txBody>
          <a:bodyPr>
            <a:normAutofit lnSpcReduction="10000"/>
          </a:bodyPr>
          <a:lstStyle/>
          <a:p>
            <a:pPr marL="186262" indent="0">
              <a:buNone/>
            </a:pPr>
            <a:r>
              <a:rPr lang="en-IN" sz="1800" b="1" dirty="0" err="1"/>
              <a:t>Emp_Info</a:t>
            </a:r>
            <a:r>
              <a:rPr lang="en-IN" sz="1800" b="1" dirty="0"/>
              <a:t> Table:</a:t>
            </a:r>
          </a:p>
          <a:p>
            <a:pPr marL="186262" indent="0">
              <a:buNone/>
            </a:pPr>
            <a:endParaRPr lang="en-IN" sz="1800" dirty="0"/>
          </a:p>
          <a:p>
            <a:pPr marL="186262" indent="0">
              <a:buNone/>
            </a:pPr>
            <a:endParaRPr lang="en-IN" sz="1800" dirty="0"/>
          </a:p>
          <a:p>
            <a:pPr marL="186262" indent="0">
              <a:buNone/>
            </a:pPr>
            <a:endParaRPr lang="en-IN" sz="1800" dirty="0"/>
          </a:p>
          <a:p>
            <a:r>
              <a:rPr lang="en-IN" sz="1800" dirty="0"/>
              <a:t>There is no Primary Key in this table since some </a:t>
            </a:r>
            <a:r>
              <a:rPr lang="en-IN" sz="1800" dirty="0" err="1"/>
              <a:t>Emp_Id</a:t>
            </a:r>
            <a:r>
              <a:rPr lang="en-IN" sz="1800" dirty="0"/>
              <a:t> are repeated.</a:t>
            </a:r>
          </a:p>
          <a:p>
            <a:r>
              <a:rPr lang="en-IN" sz="1800" dirty="0" err="1"/>
              <a:t>Dept_Id</a:t>
            </a:r>
            <a:r>
              <a:rPr lang="en-IN" sz="1800" dirty="0"/>
              <a:t> from this table references </a:t>
            </a:r>
            <a:r>
              <a:rPr lang="en-IN" sz="1800" dirty="0" err="1"/>
              <a:t>Dept_id</a:t>
            </a:r>
            <a:r>
              <a:rPr lang="en-IN" sz="1800" dirty="0"/>
              <a:t> from </a:t>
            </a:r>
            <a:r>
              <a:rPr lang="en-IN" sz="1800" dirty="0" err="1"/>
              <a:t>Dept_Info</a:t>
            </a:r>
            <a:r>
              <a:rPr lang="en-IN" sz="1800" dirty="0"/>
              <a:t> table.</a:t>
            </a:r>
          </a:p>
          <a:p>
            <a:r>
              <a:rPr lang="en-IN" sz="1800" dirty="0"/>
              <a:t>This table shows the Employee Id, Date of birth as D-M-Y, First name and Last name of the employee, Gender as M or F.</a:t>
            </a:r>
          </a:p>
          <a:p>
            <a:r>
              <a:rPr lang="en-IN" sz="1800" dirty="0"/>
              <a:t>When the employee joined the company, Date of joining as D-M-Y.</a:t>
            </a:r>
          </a:p>
          <a:p>
            <a:r>
              <a:rPr lang="en-IN" sz="1800" dirty="0"/>
              <a:t>No of projects that the employee did last year, Last performance rating as S, A, B, C, PIP.</a:t>
            </a:r>
          </a:p>
          <a:p>
            <a:r>
              <a:rPr lang="en-IN" sz="1800" dirty="0"/>
              <a:t>Did the employee leave the company as 0 (No), 1 (Yes).</a:t>
            </a:r>
          </a:p>
          <a:p>
            <a:r>
              <a:rPr lang="en-IN" sz="1800" dirty="0"/>
              <a:t>If the employee left the company, it shows the last working day of the employee as D-M-Y.</a:t>
            </a:r>
          </a:p>
          <a:p>
            <a:r>
              <a:rPr lang="en-IN" sz="1800" dirty="0"/>
              <a:t>Salary, Department Id of the employee, Job title of the employee and performance issues as 0 (No), 1 (Yes).</a:t>
            </a:r>
          </a:p>
          <a:p>
            <a:r>
              <a:rPr lang="en-IN" sz="1800" dirty="0"/>
              <a:t>Employee has performance issue if </a:t>
            </a:r>
            <a:r>
              <a:rPr lang="en-IN" sz="1800" dirty="0" err="1"/>
              <a:t>He/She</a:t>
            </a:r>
            <a:r>
              <a:rPr lang="en-IN" sz="1800" dirty="0"/>
              <a:t> is earning above 80,000 and have a performance rating of C or PIP.</a:t>
            </a:r>
          </a:p>
          <a:p>
            <a:r>
              <a:rPr lang="en-IN" sz="1800" dirty="0"/>
              <a:t>Rating from 1-5, which is S=5, A=4, B=3, C=2, PIP=1</a:t>
            </a:r>
          </a:p>
          <a:p>
            <a:pPr marL="186262" indent="0">
              <a:buNone/>
            </a:pPr>
            <a:endParaRPr lang="en-IN" dirty="0"/>
          </a:p>
        </p:txBody>
      </p:sp>
      <p:sp>
        <p:nvSpPr>
          <p:cNvPr id="3" name="Title 2">
            <a:extLst>
              <a:ext uri="{FF2B5EF4-FFF2-40B4-BE49-F238E27FC236}">
                <a16:creationId xmlns:a16="http://schemas.microsoft.com/office/drawing/2014/main" id="{C2DEDD37-EF46-8BED-50FC-93F0BF8ECA71}"/>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Meta Data (1/3) :</a:t>
            </a:r>
            <a:br>
              <a:rPr lang="en-IN" sz="2800" dirty="0">
                <a:solidFill>
                  <a:prstClr val="black">
                    <a:lumMod val="85000"/>
                    <a:lumOff val="15000"/>
                  </a:prstClr>
                </a:solidFill>
                <a:latin typeface="Arial"/>
                <a:cs typeface="Arial"/>
                <a:sym typeface="Arial"/>
              </a:rPr>
            </a:br>
            <a:endParaRPr lang="en-IN" dirty="0"/>
          </a:p>
        </p:txBody>
      </p:sp>
      <p:pic>
        <p:nvPicPr>
          <p:cNvPr id="15" name="Picture 14">
            <a:extLst>
              <a:ext uri="{FF2B5EF4-FFF2-40B4-BE49-F238E27FC236}">
                <a16:creationId xmlns:a16="http://schemas.microsoft.com/office/drawing/2014/main" id="{BB653D71-E17C-FCC3-7C45-C5AA2F3CCC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522" y="1314573"/>
            <a:ext cx="10675200" cy="756992"/>
          </a:xfrm>
          <a:prstGeom prst="rect">
            <a:avLst/>
          </a:prstGeom>
        </p:spPr>
      </p:pic>
    </p:spTree>
    <p:extLst>
      <p:ext uri="{BB962C8B-B14F-4D97-AF65-F5344CB8AC3E}">
        <p14:creationId xmlns:p14="http://schemas.microsoft.com/office/powerpoint/2010/main" val="2455472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BF54C-AEC2-8D6E-1878-ED5483A4B42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66770E2-370A-5550-F521-68AADF6C98AF}"/>
              </a:ext>
            </a:extLst>
          </p:cNvPr>
          <p:cNvSpPr>
            <a:spLocks noGrp="1"/>
          </p:cNvSpPr>
          <p:nvPr>
            <p:ph type="body" idx="1"/>
          </p:nvPr>
        </p:nvSpPr>
        <p:spPr>
          <a:xfrm>
            <a:off x="590550" y="957264"/>
            <a:ext cx="10763250" cy="4700330"/>
          </a:xfrm>
        </p:spPr>
        <p:txBody>
          <a:bodyPr>
            <a:normAutofit/>
          </a:bodyPr>
          <a:lstStyle/>
          <a:p>
            <a:pPr marL="186262" indent="0">
              <a:buNone/>
            </a:pPr>
            <a:r>
              <a:rPr lang="en-IN" sz="1800" b="1" dirty="0"/>
              <a:t>Ratings Description:</a:t>
            </a:r>
          </a:p>
        </p:txBody>
      </p:sp>
      <p:sp>
        <p:nvSpPr>
          <p:cNvPr id="3" name="Title 2">
            <a:extLst>
              <a:ext uri="{FF2B5EF4-FFF2-40B4-BE49-F238E27FC236}">
                <a16:creationId xmlns:a16="http://schemas.microsoft.com/office/drawing/2014/main" id="{2BD9DFDB-02F8-16FA-C826-BA06233AAB2F}"/>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Meta Data (2/3) :</a:t>
            </a:r>
            <a:br>
              <a:rPr lang="en-IN" sz="2800" dirty="0">
                <a:solidFill>
                  <a:prstClr val="black">
                    <a:lumMod val="85000"/>
                    <a:lumOff val="15000"/>
                  </a:prstClr>
                </a:solidFill>
                <a:latin typeface="Arial"/>
                <a:cs typeface="Arial"/>
                <a:sym typeface="Arial"/>
              </a:rPr>
            </a:br>
            <a:endParaRPr lang="en-IN" dirty="0"/>
          </a:p>
        </p:txBody>
      </p:sp>
      <p:graphicFrame>
        <p:nvGraphicFramePr>
          <p:cNvPr id="10" name="Table 9">
            <a:extLst>
              <a:ext uri="{FF2B5EF4-FFF2-40B4-BE49-F238E27FC236}">
                <a16:creationId xmlns:a16="http://schemas.microsoft.com/office/drawing/2014/main" id="{8C697C05-6C72-AE0A-557F-5985C5C16D5B}"/>
              </a:ext>
            </a:extLst>
          </p:cNvPr>
          <p:cNvGraphicFramePr>
            <a:graphicFrameLocks noGrp="1"/>
          </p:cNvGraphicFramePr>
          <p:nvPr>
            <p:extLst>
              <p:ext uri="{D42A27DB-BD31-4B8C-83A1-F6EECF244321}">
                <p14:modId xmlns:p14="http://schemas.microsoft.com/office/powerpoint/2010/main" val="4141365397"/>
              </p:ext>
            </p:extLst>
          </p:nvPr>
        </p:nvGraphicFramePr>
        <p:xfrm>
          <a:off x="838200" y="1457581"/>
          <a:ext cx="10763252" cy="4780176"/>
        </p:xfrm>
        <a:graphic>
          <a:graphicData uri="http://schemas.openxmlformats.org/drawingml/2006/table">
            <a:tbl>
              <a:tblPr>
                <a:tableStyleId>{5C22544A-7EE6-4342-B048-85BDC9FD1C3A}</a:tableStyleId>
              </a:tblPr>
              <a:tblGrid>
                <a:gridCol w="3510671">
                  <a:extLst>
                    <a:ext uri="{9D8B030D-6E8A-4147-A177-3AD203B41FA5}">
                      <a16:colId xmlns:a16="http://schemas.microsoft.com/office/drawing/2014/main" val="3062052023"/>
                    </a:ext>
                  </a:extLst>
                </a:gridCol>
                <a:gridCol w="5823087">
                  <a:extLst>
                    <a:ext uri="{9D8B030D-6E8A-4147-A177-3AD203B41FA5}">
                      <a16:colId xmlns:a16="http://schemas.microsoft.com/office/drawing/2014/main" val="218863694"/>
                    </a:ext>
                  </a:extLst>
                </a:gridCol>
                <a:gridCol w="1429494">
                  <a:extLst>
                    <a:ext uri="{9D8B030D-6E8A-4147-A177-3AD203B41FA5}">
                      <a16:colId xmlns:a16="http://schemas.microsoft.com/office/drawing/2014/main" val="2479445100"/>
                    </a:ext>
                  </a:extLst>
                </a:gridCol>
              </a:tblGrid>
              <a:tr h="147265">
                <a:tc>
                  <a:txBody>
                    <a:bodyPr/>
                    <a:lstStyle/>
                    <a:p>
                      <a:pPr algn="l" fontAlgn="b">
                        <a:buNone/>
                      </a:pPr>
                      <a:r>
                        <a:rPr lang="en-IN" sz="1000" u="none" strike="noStrike" dirty="0">
                          <a:effectLst/>
                        </a:rPr>
                        <a:t>Rating</a:t>
                      </a:r>
                      <a:endParaRPr lang="en-IN" sz="1000" b="1" i="0" u="none" strike="noStrike" dirty="0">
                        <a:solidFill>
                          <a:srgbClr val="000000"/>
                        </a:solidFill>
                        <a:effectLst/>
                        <a:latin typeface="Calibri" panose="020F0502020204030204" pitchFamily="34" charset="0"/>
                      </a:endParaRPr>
                    </a:p>
                  </a:txBody>
                  <a:tcPr marL="3456" marR="3456" marT="3456" marB="0" anchor="b"/>
                </a:tc>
                <a:tc>
                  <a:txBody>
                    <a:bodyPr/>
                    <a:lstStyle/>
                    <a:p>
                      <a:pPr algn="l" fontAlgn="b">
                        <a:buNone/>
                      </a:pPr>
                      <a:r>
                        <a:rPr lang="en-IN" sz="1000" u="none" strike="noStrike">
                          <a:effectLst/>
                        </a:rPr>
                        <a:t>Meaning</a:t>
                      </a:r>
                      <a:endParaRPr lang="en-IN" sz="1000" b="1" i="0" u="none" strike="noStrike">
                        <a:solidFill>
                          <a:srgbClr val="000000"/>
                        </a:solidFill>
                        <a:effectLst/>
                        <a:latin typeface="Calibri" panose="020F0502020204030204" pitchFamily="34" charset="0"/>
                      </a:endParaRPr>
                    </a:p>
                  </a:txBody>
                  <a:tcPr marL="3456" marR="3456" marT="3456" marB="0" anchor="b"/>
                </a:tc>
                <a:tc>
                  <a:txBody>
                    <a:bodyPr/>
                    <a:lstStyle/>
                    <a:p>
                      <a:pPr algn="l" fontAlgn="b">
                        <a:buNone/>
                      </a:pPr>
                      <a:r>
                        <a:rPr lang="en-IN" sz="1000" u="none" strike="noStrike">
                          <a:effectLst/>
                        </a:rPr>
                        <a:t>Description</a:t>
                      </a:r>
                      <a:endParaRPr lang="en-IN" sz="1000" b="1" i="0" u="none" strike="noStrike">
                        <a:solidFill>
                          <a:srgbClr val="000000"/>
                        </a:solidFill>
                        <a:effectLst/>
                        <a:latin typeface="Calibri" panose="020F0502020204030204" pitchFamily="34" charset="0"/>
                      </a:endParaRPr>
                    </a:p>
                  </a:txBody>
                  <a:tcPr marL="3456" marR="3456" marT="3456" marB="0" anchor="b"/>
                </a:tc>
                <a:extLst>
                  <a:ext uri="{0D108BD9-81ED-4DB2-BD59-A6C34878D82A}">
                    <a16:rowId xmlns:a16="http://schemas.microsoft.com/office/drawing/2014/main" val="2880264192"/>
                  </a:ext>
                </a:extLst>
              </a:tr>
              <a:tr h="1155264">
                <a:tc>
                  <a:txBody>
                    <a:bodyPr/>
                    <a:lstStyle/>
                    <a:p>
                      <a:pPr algn="l" fontAlgn="b">
                        <a:buNone/>
                      </a:pPr>
                      <a:r>
                        <a:rPr lang="en-IN" sz="1000" u="none" strike="noStrike" dirty="0">
                          <a:effectLst/>
                        </a:rPr>
                        <a:t>A</a:t>
                      </a:r>
                      <a:endParaRPr lang="en-IN" sz="1000" b="0" i="0" u="none" strike="noStrike" dirty="0">
                        <a:solidFill>
                          <a:srgbClr val="000000"/>
                        </a:solidFill>
                        <a:effectLst/>
                        <a:latin typeface="Calibri" panose="020F0502020204030204" pitchFamily="34" charset="0"/>
                      </a:endParaRPr>
                    </a:p>
                  </a:txBody>
                  <a:tcPr marL="3456" marR="3456" marT="3456" marB="0" anchor="b"/>
                </a:tc>
                <a:tc>
                  <a:txBody>
                    <a:bodyPr/>
                    <a:lstStyle/>
                    <a:p>
                      <a:pPr algn="l" fontAlgn="b">
                        <a:buNone/>
                      </a:pPr>
                      <a:r>
                        <a:rPr lang="en-IN" sz="1000" u="none" strike="noStrike">
                          <a:effectLst/>
                        </a:rPr>
                        <a:t>Excellent / Outstanding</a:t>
                      </a:r>
                      <a:endParaRPr lang="en-IN" sz="1000" b="0" i="0" u="none" strike="noStrike">
                        <a:solidFill>
                          <a:srgbClr val="000000"/>
                        </a:solidFill>
                        <a:effectLst/>
                        <a:latin typeface="Calibri" panose="020F0502020204030204" pitchFamily="34" charset="0"/>
                      </a:endParaRPr>
                    </a:p>
                  </a:txBody>
                  <a:tcPr marL="3456" marR="3456" marT="3456" marB="0" anchor="b"/>
                </a:tc>
                <a:tc>
                  <a:txBody>
                    <a:bodyPr/>
                    <a:lstStyle/>
                    <a:p>
                      <a:pPr algn="l" fontAlgn="b">
                        <a:buNone/>
                      </a:pPr>
                      <a:r>
                        <a:rPr lang="en-US" sz="1000" u="none" strike="noStrike">
                          <a:effectLst/>
                        </a:rPr>
                        <a:t>Top performer, exceeds expectations consistently. Often eligible for promotions, bonuses, leadership roles.</a:t>
                      </a:r>
                      <a:endParaRPr lang="en-US" sz="1000" b="0" i="0" u="none" strike="noStrike">
                        <a:solidFill>
                          <a:srgbClr val="000000"/>
                        </a:solidFill>
                        <a:effectLst/>
                        <a:latin typeface="Calibri" panose="020F0502020204030204" pitchFamily="34" charset="0"/>
                      </a:endParaRPr>
                    </a:p>
                  </a:txBody>
                  <a:tcPr marL="3456" marR="3456" marT="3456" marB="0" anchor="b"/>
                </a:tc>
                <a:extLst>
                  <a:ext uri="{0D108BD9-81ED-4DB2-BD59-A6C34878D82A}">
                    <a16:rowId xmlns:a16="http://schemas.microsoft.com/office/drawing/2014/main" val="3429416929"/>
                  </a:ext>
                </a:extLst>
              </a:tr>
              <a:tr h="867264">
                <a:tc>
                  <a:txBody>
                    <a:bodyPr/>
                    <a:lstStyle/>
                    <a:p>
                      <a:pPr algn="l" fontAlgn="b">
                        <a:buNone/>
                      </a:pPr>
                      <a:r>
                        <a:rPr lang="en-IN" sz="1000" u="none" strike="noStrike">
                          <a:effectLst/>
                        </a:rPr>
                        <a:t>B</a:t>
                      </a:r>
                      <a:endParaRPr lang="en-IN" sz="1000" b="0" i="0" u="none" strike="noStrike">
                        <a:solidFill>
                          <a:srgbClr val="000000"/>
                        </a:solidFill>
                        <a:effectLst/>
                        <a:latin typeface="Calibri" panose="020F0502020204030204" pitchFamily="34" charset="0"/>
                      </a:endParaRPr>
                    </a:p>
                  </a:txBody>
                  <a:tcPr marL="3456" marR="3456" marT="3456" marB="0" anchor="b"/>
                </a:tc>
                <a:tc>
                  <a:txBody>
                    <a:bodyPr/>
                    <a:lstStyle/>
                    <a:p>
                      <a:pPr algn="l" fontAlgn="b">
                        <a:buNone/>
                      </a:pPr>
                      <a:r>
                        <a:rPr lang="en-IN" sz="1000" u="none" strike="noStrike">
                          <a:effectLst/>
                        </a:rPr>
                        <a:t>Good / Meets Expectations</a:t>
                      </a:r>
                      <a:endParaRPr lang="en-IN" sz="1000" b="0" i="0" u="none" strike="noStrike">
                        <a:solidFill>
                          <a:srgbClr val="000000"/>
                        </a:solidFill>
                        <a:effectLst/>
                        <a:latin typeface="Calibri" panose="020F0502020204030204" pitchFamily="34" charset="0"/>
                      </a:endParaRPr>
                    </a:p>
                  </a:txBody>
                  <a:tcPr marL="3456" marR="3456" marT="3456" marB="0" anchor="b"/>
                </a:tc>
                <a:tc>
                  <a:txBody>
                    <a:bodyPr/>
                    <a:lstStyle/>
                    <a:p>
                      <a:pPr algn="l" fontAlgn="b">
                        <a:buNone/>
                      </a:pPr>
                      <a:r>
                        <a:rPr lang="en-US" sz="1000" u="none" strike="noStrike">
                          <a:effectLst/>
                        </a:rPr>
                        <a:t>Solid performer. Delivers what’s expected; may occasionally go beyond. Reliable and consistent.</a:t>
                      </a:r>
                      <a:endParaRPr lang="en-US" sz="1000" b="0" i="0" u="none" strike="noStrike">
                        <a:solidFill>
                          <a:srgbClr val="000000"/>
                        </a:solidFill>
                        <a:effectLst/>
                        <a:latin typeface="Calibri" panose="020F0502020204030204" pitchFamily="34" charset="0"/>
                      </a:endParaRPr>
                    </a:p>
                  </a:txBody>
                  <a:tcPr marL="3456" marR="3456" marT="3456" marB="0" anchor="b"/>
                </a:tc>
                <a:extLst>
                  <a:ext uri="{0D108BD9-81ED-4DB2-BD59-A6C34878D82A}">
                    <a16:rowId xmlns:a16="http://schemas.microsoft.com/office/drawing/2014/main" val="3556011472"/>
                  </a:ext>
                </a:extLst>
              </a:tr>
              <a:tr h="867264">
                <a:tc>
                  <a:txBody>
                    <a:bodyPr/>
                    <a:lstStyle/>
                    <a:p>
                      <a:pPr algn="l" fontAlgn="b">
                        <a:buNone/>
                      </a:pPr>
                      <a:r>
                        <a:rPr lang="en-IN" sz="1000" u="none" strike="noStrike">
                          <a:effectLst/>
                        </a:rPr>
                        <a:t>C</a:t>
                      </a:r>
                      <a:endParaRPr lang="en-IN" sz="1000" b="0" i="0" u="none" strike="noStrike">
                        <a:solidFill>
                          <a:srgbClr val="000000"/>
                        </a:solidFill>
                        <a:effectLst/>
                        <a:latin typeface="Calibri" panose="020F0502020204030204" pitchFamily="34" charset="0"/>
                      </a:endParaRPr>
                    </a:p>
                  </a:txBody>
                  <a:tcPr marL="3456" marR="3456" marT="3456" marB="0" anchor="b"/>
                </a:tc>
                <a:tc>
                  <a:txBody>
                    <a:bodyPr/>
                    <a:lstStyle/>
                    <a:p>
                      <a:pPr algn="l" fontAlgn="b">
                        <a:buNone/>
                      </a:pPr>
                      <a:r>
                        <a:rPr lang="en-IN" sz="1000" u="none" strike="noStrike">
                          <a:effectLst/>
                        </a:rPr>
                        <a:t>Needs Improvement / Below Expectations</a:t>
                      </a:r>
                      <a:endParaRPr lang="en-IN" sz="1000" b="0" i="0" u="none" strike="noStrike">
                        <a:solidFill>
                          <a:srgbClr val="000000"/>
                        </a:solidFill>
                        <a:effectLst/>
                        <a:latin typeface="Calibri" panose="020F0502020204030204" pitchFamily="34" charset="0"/>
                      </a:endParaRPr>
                    </a:p>
                  </a:txBody>
                  <a:tcPr marL="3456" marR="3456" marT="3456" marB="0" anchor="b"/>
                </a:tc>
                <a:tc>
                  <a:txBody>
                    <a:bodyPr/>
                    <a:lstStyle/>
                    <a:p>
                      <a:pPr algn="l" fontAlgn="b">
                        <a:buNone/>
                      </a:pPr>
                      <a:r>
                        <a:rPr lang="en-US" sz="1000" u="none" strike="noStrike" dirty="0">
                          <a:effectLst/>
                        </a:rPr>
                        <a:t>Underperforming slightly. May need coaching or upskilling. Not serious yet, but needs monitoring.</a:t>
                      </a:r>
                      <a:endParaRPr lang="en-US" sz="1000" b="0" i="0" u="none" strike="noStrike" dirty="0">
                        <a:solidFill>
                          <a:srgbClr val="000000"/>
                        </a:solidFill>
                        <a:effectLst/>
                        <a:latin typeface="Calibri" panose="020F0502020204030204" pitchFamily="34" charset="0"/>
                      </a:endParaRPr>
                    </a:p>
                  </a:txBody>
                  <a:tcPr marL="3456" marR="3456" marT="3456" marB="0" anchor="b"/>
                </a:tc>
                <a:extLst>
                  <a:ext uri="{0D108BD9-81ED-4DB2-BD59-A6C34878D82A}">
                    <a16:rowId xmlns:a16="http://schemas.microsoft.com/office/drawing/2014/main" val="1253380565"/>
                  </a:ext>
                </a:extLst>
              </a:tr>
              <a:tr h="867264">
                <a:tc>
                  <a:txBody>
                    <a:bodyPr/>
                    <a:lstStyle/>
                    <a:p>
                      <a:pPr algn="l" fontAlgn="b">
                        <a:buNone/>
                      </a:pPr>
                      <a:r>
                        <a:rPr lang="en-IN" sz="1000" u="none" strike="noStrike">
                          <a:effectLst/>
                        </a:rPr>
                        <a:t>PIP</a:t>
                      </a:r>
                      <a:endParaRPr lang="en-IN" sz="1000" b="0" i="0" u="none" strike="noStrike">
                        <a:solidFill>
                          <a:srgbClr val="000000"/>
                        </a:solidFill>
                        <a:effectLst/>
                        <a:latin typeface="Calibri" panose="020F0502020204030204" pitchFamily="34" charset="0"/>
                      </a:endParaRPr>
                    </a:p>
                  </a:txBody>
                  <a:tcPr marL="3456" marR="3456" marT="3456" marB="0" anchor="b"/>
                </a:tc>
                <a:tc>
                  <a:txBody>
                    <a:bodyPr/>
                    <a:lstStyle/>
                    <a:p>
                      <a:pPr algn="l" fontAlgn="b">
                        <a:buNone/>
                      </a:pPr>
                      <a:r>
                        <a:rPr lang="en-IN" sz="1000" u="none" strike="noStrike">
                          <a:effectLst/>
                        </a:rPr>
                        <a:t>Performance Improvement Plan</a:t>
                      </a:r>
                      <a:endParaRPr lang="en-IN" sz="1000" b="0" i="0" u="none" strike="noStrike">
                        <a:solidFill>
                          <a:srgbClr val="000000"/>
                        </a:solidFill>
                        <a:effectLst/>
                        <a:latin typeface="Calibri" panose="020F0502020204030204" pitchFamily="34" charset="0"/>
                      </a:endParaRPr>
                    </a:p>
                  </a:txBody>
                  <a:tcPr marL="3456" marR="3456" marT="3456" marB="0" anchor="b"/>
                </a:tc>
                <a:tc>
                  <a:txBody>
                    <a:bodyPr/>
                    <a:lstStyle/>
                    <a:p>
                      <a:pPr algn="l" fontAlgn="b">
                        <a:buNone/>
                      </a:pPr>
                      <a:r>
                        <a:rPr lang="en-US" sz="1000" u="none" strike="noStrike">
                          <a:effectLst/>
                        </a:rPr>
                        <a:t>Officially under review due to poor performance. Risk of termination if performance doesn't improve.</a:t>
                      </a:r>
                      <a:endParaRPr lang="en-US" sz="1000" b="0" i="0" u="none" strike="noStrike">
                        <a:solidFill>
                          <a:srgbClr val="000000"/>
                        </a:solidFill>
                        <a:effectLst/>
                        <a:latin typeface="Calibri" panose="020F0502020204030204" pitchFamily="34" charset="0"/>
                      </a:endParaRPr>
                    </a:p>
                  </a:txBody>
                  <a:tcPr marL="3456" marR="3456" marT="3456" marB="0" anchor="b"/>
                </a:tc>
                <a:extLst>
                  <a:ext uri="{0D108BD9-81ED-4DB2-BD59-A6C34878D82A}">
                    <a16:rowId xmlns:a16="http://schemas.microsoft.com/office/drawing/2014/main" val="3932624184"/>
                  </a:ext>
                </a:extLst>
              </a:tr>
              <a:tr h="867264">
                <a:tc>
                  <a:txBody>
                    <a:bodyPr/>
                    <a:lstStyle/>
                    <a:p>
                      <a:pPr algn="l" fontAlgn="b">
                        <a:buNone/>
                      </a:pPr>
                      <a:r>
                        <a:rPr lang="en-IN" sz="1000" u="none" strike="noStrike" dirty="0">
                          <a:effectLst/>
                        </a:rPr>
                        <a:t>S</a:t>
                      </a:r>
                      <a:endParaRPr lang="en-IN" sz="1000" b="0" i="0" u="none" strike="noStrike" dirty="0">
                        <a:solidFill>
                          <a:srgbClr val="000000"/>
                        </a:solidFill>
                        <a:effectLst/>
                        <a:latin typeface="Calibri" panose="020F0502020204030204" pitchFamily="34" charset="0"/>
                      </a:endParaRPr>
                    </a:p>
                  </a:txBody>
                  <a:tcPr marL="3456" marR="3456" marT="3456" marB="0" anchor="b"/>
                </a:tc>
                <a:tc>
                  <a:txBody>
                    <a:bodyPr/>
                    <a:lstStyle/>
                    <a:p>
                      <a:pPr algn="l" fontAlgn="b">
                        <a:buNone/>
                      </a:pPr>
                      <a:r>
                        <a:rPr lang="en-IN" sz="1000" u="none" strike="noStrike">
                          <a:effectLst/>
                        </a:rPr>
                        <a:t>Star Performer / Strategic Contributor</a:t>
                      </a:r>
                      <a:endParaRPr lang="en-IN" sz="1000" b="0" i="0" u="none" strike="noStrike">
                        <a:solidFill>
                          <a:srgbClr val="000000"/>
                        </a:solidFill>
                        <a:effectLst/>
                        <a:latin typeface="Calibri" panose="020F0502020204030204" pitchFamily="34" charset="0"/>
                      </a:endParaRPr>
                    </a:p>
                  </a:txBody>
                  <a:tcPr marL="3456" marR="3456" marT="3456" marB="0" anchor="b"/>
                </a:tc>
                <a:tc>
                  <a:txBody>
                    <a:bodyPr/>
                    <a:lstStyle/>
                    <a:p>
                      <a:pPr algn="l" fontAlgn="b">
                        <a:buNone/>
                      </a:pPr>
                      <a:r>
                        <a:rPr lang="en-US" sz="1000" u="none" strike="noStrike" dirty="0">
                          <a:effectLst/>
                        </a:rPr>
                        <a:t>Often used in some companies for elite talent. High-potential, future leader, or mission-critical employee.</a:t>
                      </a:r>
                      <a:endParaRPr lang="en-US" sz="1000" b="0" i="0" u="none" strike="noStrike" dirty="0">
                        <a:solidFill>
                          <a:srgbClr val="000000"/>
                        </a:solidFill>
                        <a:effectLst/>
                        <a:latin typeface="Calibri" panose="020F0502020204030204" pitchFamily="34" charset="0"/>
                      </a:endParaRPr>
                    </a:p>
                  </a:txBody>
                  <a:tcPr marL="3456" marR="3456" marT="3456" marB="0" anchor="b"/>
                </a:tc>
                <a:extLst>
                  <a:ext uri="{0D108BD9-81ED-4DB2-BD59-A6C34878D82A}">
                    <a16:rowId xmlns:a16="http://schemas.microsoft.com/office/drawing/2014/main" val="2362268354"/>
                  </a:ext>
                </a:extLst>
              </a:tr>
            </a:tbl>
          </a:graphicData>
        </a:graphic>
      </p:graphicFrame>
    </p:spTree>
    <p:extLst>
      <p:ext uri="{BB962C8B-B14F-4D97-AF65-F5344CB8AC3E}">
        <p14:creationId xmlns:p14="http://schemas.microsoft.com/office/powerpoint/2010/main" val="380331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A5549-A422-34BF-885E-2F4AADC6780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2762347-3789-AB0D-2F88-264FEC23CD98}"/>
              </a:ext>
            </a:extLst>
          </p:cNvPr>
          <p:cNvSpPr>
            <a:spLocks noGrp="1"/>
          </p:cNvSpPr>
          <p:nvPr>
            <p:ph type="body" idx="1"/>
          </p:nvPr>
        </p:nvSpPr>
        <p:spPr>
          <a:xfrm>
            <a:off x="590550" y="957264"/>
            <a:ext cx="10763250" cy="5229224"/>
          </a:xfrm>
        </p:spPr>
        <p:txBody>
          <a:bodyPr>
            <a:normAutofit/>
          </a:bodyPr>
          <a:lstStyle/>
          <a:p>
            <a:pPr marL="186262" indent="0">
              <a:buNone/>
            </a:pPr>
            <a:r>
              <a:rPr lang="en-IN" sz="1800" b="1" dirty="0" err="1"/>
              <a:t>Dept_Info</a:t>
            </a:r>
            <a:r>
              <a:rPr lang="en-IN" sz="1800" b="1" dirty="0"/>
              <a:t> Table:</a:t>
            </a:r>
          </a:p>
          <a:p>
            <a:pPr marL="186262" indent="0">
              <a:buNone/>
            </a:pPr>
            <a:endParaRPr lang="en-IN" sz="1800" dirty="0"/>
          </a:p>
          <a:p>
            <a:pPr marL="186262" indent="0">
              <a:buNone/>
            </a:pPr>
            <a:endParaRPr lang="en-IN" sz="1800" dirty="0"/>
          </a:p>
          <a:p>
            <a:pPr marL="186262" indent="0">
              <a:buNone/>
            </a:pPr>
            <a:endParaRPr lang="en-IN" sz="1800" dirty="0"/>
          </a:p>
          <a:p>
            <a:r>
              <a:rPr lang="en-IN" sz="1800" dirty="0" err="1"/>
              <a:t>Dept_Id</a:t>
            </a:r>
            <a:r>
              <a:rPr lang="en-IN" sz="1800" dirty="0"/>
              <a:t> is the primary key.</a:t>
            </a:r>
          </a:p>
          <a:p>
            <a:r>
              <a:rPr lang="en-IN" sz="1800" dirty="0" err="1"/>
              <a:t>Dept_Id</a:t>
            </a:r>
            <a:r>
              <a:rPr lang="en-IN" sz="1800" dirty="0"/>
              <a:t> from this table is referred by </a:t>
            </a:r>
            <a:r>
              <a:rPr lang="en-IN" sz="1800" dirty="0" err="1"/>
              <a:t>Dept_Id</a:t>
            </a:r>
            <a:r>
              <a:rPr lang="en-IN" sz="1800" dirty="0"/>
              <a:t> of </a:t>
            </a:r>
            <a:r>
              <a:rPr lang="en-IN" sz="1800" dirty="0" err="1"/>
              <a:t>Emp_Info</a:t>
            </a:r>
            <a:r>
              <a:rPr lang="en-IN" sz="1800" dirty="0"/>
              <a:t> table.</a:t>
            </a:r>
          </a:p>
          <a:p>
            <a:r>
              <a:rPr lang="en-IN" sz="1800" dirty="0"/>
              <a:t>Department name is shown for each department Id.</a:t>
            </a:r>
          </a:p>
        </p:txBody>
      </p:sp>
      <p:sp>
        <p:nvSpPr>
          <p:cNvPr id="3" name="Title 2">
            <a:extLst>
              <a:ext uri="{FF2B5EF4-FFF2-40B4-BE49-F238E27FC236}">
                <a16:creationId xmlns:a16="http://schemas.microsoft.com/office/drawing/2014/main" id="{CE524A28-BCE8-D00B-FDCE-0A1321B681EF}"/>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Meta Data (3/3) :</a:t>
            </a:r>
            <a:br>
              <a:rPr lang="en-IN" sz="2800" dirty="0">
                <a:solidFill>
                  <a:prstClr val="black">
                    <a:lumMod val="85000"/>
                    <a:lumOff val="15000"/>
                  </a:prstClr>
                </a:solidFill>
                <a:latin typeface="Arial"/>
                <a:cs typeface="Arial"/>
                <a:sym typeface="Arial"/>
              </a:rPr>
            </a:br>
            <a:endParaRPr lang="en-IN" dirty="0"/>
          </a:p>
        </p:txBody>
      </p:sp>
      <p:pic>
        <p:nvPicPr>
          <p:cNvPr id="7" name="Picture 6">
            <a:extLst>
              <a:ext uri="{FF2B5EF4-FFF2-40B4-BE49-F238E27FC236}">
                <a16:creationId xmlns:a16="http://schemas.microsoft.com/office/drawing/2014/main" id="{56448101-1778-256D-7B2B-746C796BDD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490587"/>
            <a:ext cx="2591162" cy="1076475"/>
          </a:xfrm>
          <a:prstGeom prst="rect">
            <a:avLst/>
          </a:prstGeom>
        </p:spPr>
      </p:pic>
    </p:spTree>
    <p:extLst>
      <p:ext uri="{BB962C8B-B14F-4D97-AF65-F5344CB8AC3E}">
        <p14:creationId xmlns:p14="http://schemas.microsoft.com/office/powerpoint/2010/main" val="4159133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FCE74-D5C5-9BE0-1161-0C787364F72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9F65A28-ACBB-223C-D6B0-13E9F71AE885}"/>
              </a:ext>
            </a:extLst>
          </p:cNvPr>
          <p:cNvSpPr>
            <a:spLocks noGrp="1"/>
          </p:cNvSpPr>
          <p:nvPr>
            <p:ph type="body" idx="1"/>
          </p:nvPr>
        </p:nvSpPr>
        <p:spPr>
          <a:xfrm>
            <a:off x="678600" y="1400175"/>
            <a:ext cx="10675200" cy="4814888"/>
          </a:xfrm>
        </p:spPr>
        <p:txBody>
          <a:bodyPr>
            <a:normAutofit/>
          </a:bodyPr>
          <a:lstStyle/>
          <a:p>
            <a:pPr marL="186262" indent="0">
              <a:buNone/>
            </a:pPr>
            <a:endParaRPr lang="en-IN" dirty="0"/>
          </a:p>
          <a:p>
            <a:pPr marL="186262" indent="0">
              <a:buNone/>
            </a:pPr>
            <a:endParaRPr lang="en-IN" dirty="0"/>
          </a:p>
          <a:p>
            <a:pPr marL="186262" indent="0">
              <a:buNone/>
            </a:pPr>
            <a:endParaRPr lang="en-IN" dirty="0"/>
          </a:p>
          <a:p>
            <a:pPr marL="186262" indent="0">
              <a:buNone/>
            </a:pPr>
            <a:endParaRPr lang="en-IN" dirty="0"/>
          </a:p>
          <a:p>
            <a:pPr marL="186262" indent="0">
              <a:buNone/>
            </a:pPr>
            <a:endParaRPr lang="en-IN" dirty="0"/>
          </a:p>
          <a:p>
            <a:pPr marL="186262" indent="0">
              <a:buNone/>
            </a:pPr>
            <a:endParaRPr lang="en-IN" dirty="0"/>
          </a:p>
          <a:p>
            <a:pPr marL="186262" indent="0">
              <a:buNone/>
            </a:pPr>
            <a:endParaRPr lang="en-IN" dirty="0"/>
          </a:p>
          <a:p>
            <a:pPr marL="186262" indent="0">
              <a:buNone/>
            </a:pPr>
            <a:endParaRPr lang="en-IN" dirty="0"/>
          </a:p>
          <a:p>
            <a:r>
              <a:rPr lang="en-IN" dirty="0" err="1"/>
              <a:t>Dept_Info</a:t>
            </a:r>
            <a:r>
              <a:rPr lang="en-IN" dirty="0"/>
              <a:t> table has </a:t>
            </a:r>
            <a:r>
              <a:rPr lang="en-IN" dirty="0" err="1"/>
              <a:t>Dept_Id</a:t>
            </a:r>
            <a:r>
              <a:rPr lang="en-IN" dirty="0"/>
              <a:t> as Primary Key.</a:t>
            </a:r>
          </a:p>
          <a:p>
            <a:r>
              <a:rPr lang="en-IN" dirty="0"/>
              <a:t>In </a:t>
            </a:r>
            <a:r>
              <a:rPr lang="en-IN" dirty="0" err="1"/>
              <a:t>Emp_Info</a:t>
            </a:r>
            <a:r>
              <a:rPr lang="en-IN" dirty="0"/>
              <a:t> table, </a:t>
            </a:r>
            <a:r>
              <a:rPr lang="en-IN" dirty="0" err="1"/>
              <a:t>Dept_Id</a:t>
            </a:r>
            <a:r>
              <a:rPr lang="en-IN" dirty="0"/>
              <a:t> is the Foreign Key which references </a:t>
            </a:r>
            <a:r>
              <a:rPr lang="en-IN" dirty="0" err="1"/>
              <a:t>Dept_Id</a:t>
            </a:r>
            <a:r>
              <a:rPr lang="en-IN" dirty="0"/>
              <a:t> from </a:t>
            </a:r>
            <a:r>
              <a:rPr lang="en-IN" dirty="0" err="1"/>
              <a:t>Dept_Info</a:t>
            </a:r>
            <a:r>
              <a:rPr lang="en-IN" dirty="0"/>
              <a:t> table.</a:t>
            </a:r>
          </a:p>
        </p:txBody>
      </p:sp>
      <p:sp>
        <p:nvSpPr>
          <p:cNvPr id="3" name="Title 2">
            <a:extLst>
              <a:ext uri="{FF2B5EF4-FFF2-40B4-BE49-F238E27FC236}">
                <a16:creationId xmlns:a16="http://schemas.microsoft.com/office/drawing/2014/main" id="{84A40BD8-752E-547B-211C-EB6FD92BDE40}"/>
              </a:ext>
            </a:extLst>
          </p:cNvPr>
          <p:cNvSpPr>
            <a:spLocks noGrp="1"/>
          </p:cNvSpPr>
          <p:nvPr>
            <p:ph type="title"/>
          </p:nvPr>
        </p:nvSpPr>
        <p:spPr>
          <a:xfrm>
            <a:off x="424628" y="564357"/>
            <a:ext cx="10675200" cy="1137600"/>
          </a:xfrm>
        </p:spPr>
        <p:txBody>
          <a:bodyPr/>
          <a:lstStyle/>
          <a:p>
            <a:r>
              <a:rPr lang="en-IN" sz="2800" dirty="0">
                <a:solidFill>
                  <a:prstClr val="black">
                    <a:lumMod val="85000"/>
                    <a:lumOff val="15000"/>
                  </a:prstClr>
                </a:solidFill>
                <a:latin typeface="Arial"/>
                <a:cs typeface="Arial"/>
                <a:sym typeface="Arial"/>
              </a:rPr>
              <a:t>ER Diagram :</a:t>
            </a:r>
            <a:br>
              <a:rPr lang="en-IN" sz="2800" dirty="0">
                <a:solidFill>
                  <a:prstClr val="black">
                    <a:lumMod val="85000"/>
                    <a:lumOff val="15000"/>
                  </a:prstClr>
                </a:solidFill>
                <a:latin typeface="Arial"/>
                <a:cs typeface="Arial"/>
                <a:sym typeface="Arial"/>
              </a:rPr>
            </a:br>
            <a:endParaRPr lang="en-IN" dirty="0"/>
          </a:p>
        </p:txBody>
      </p:sp>
      <p:pic>
        <p:nvPicPr>
          <p:cNvPr id="9" name="Picture 8">
            <a:extLst>
              <a:ext uri="{FF2B5EF4-FFF2-40B4-BE49-F238E27FC236}">
                <a16:creationId xmlns:a16="http://schemas.microsoft.com/office/drawing/2014/main" id="{CDEB9948-4EE2-2026-01C8-A4BB289896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4384" y="1183155"/>
            <a:ext cx="5860797" cy="3535198"/>
          </a:xfrm>
          <a:prstGeom prst="rect">
            <a:avLst/>
          </a:prstGeom>
        </p:spPr>
      </p:pic>
    </p:spTree>
    <p:extLst>
      <p:ext uri="{BB962C8B-B14F-4D97-AF65-F5344CB8AC3E}">
        <p14:creationId xmlns:p14="http://schemas.microsoft.com/office/powerpoint/2010/main" val="3695661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03F74-CE2A-A11E-D6B6-5B61EA579D0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F867F37-7866-218B-CDC5-37B17968B397}"/>
              </a:ext>
            </a:extLst>
          </p:cNvPr>
          <p:cNvSpPr>
            <a:spLocks noGrp="1"/>
          </p:cNvSpPr>
          <p:nvPr>
            <p:ph type="body" idx="1"/>
          </p:nvPr>
        </p:nvSpPr>
        <p:spPr>
          <a:xfrm>
            <a:off x="590550" y="957264"/>
            <a:ext cx="10763250" cy="5229224"/>
          </a:xfrm>
        </p:spPr>
        <p:txBody>
          <a:bodyPr>
            <a:normAutofit/>
          </a:bodyPr>
          <a:lstStyle/>
          <a:p>
            <a:pPr marL="186262" indent="0">
              <a:buNone/>
            </a:pPr>
            <a:r>
              <a:rPr lang="en-IN" sz="1800" b="1" dirty="0" err="1"/>
              <a:t>Emp_Info</a:t>
            </a:r>
            <a:r>
              <a:rPr lang="en-IN" sz="1800" b="1" dirty="0"/>
              <a:t> Table:</a:t>
            </a:r>
          </a:p>
          <a:p>
            <a:pPr marL="186262" indent="0">
              <a:buNone/>
            </a:pPr>
            <a:endParaRPr lang="en-IN" sz="1800" dirty="0"/>
          </a:p>
          <a:p>
            <a:pPr marL="186262" indent="0">
              <a:buNone/>
            </a:pPr>
            <a:endParaRPr lang="en-IN" sz="1800" dirty="0"/>
          </a:p>
          <a:p>
            <a:r>
              <a:rPr lang="en-IN" sz="1800" dirty="0"/>
              <a:t>The DOB, </a:t>
            </a:r>
            <a:r>
              <a:rPr lang="en-IN" sz="1800" dirty="0" err="1"/>
              <a:t>DoJ</a:t>
            </a:r>
            <a:r>
              <a:rPr lang="en-IN" sz="1800" dirty="0"/>
              <a:t>, </a:t>
            </a:r>
            <a:r>
              <a:rPr lang="en-IN" sz="1800" dirty="0" err="1"/>
              <a:t>Last_date</a:t>
            </a:r>
            <a:r>
              <a:rPr lang="en-IN" sz="1800" dirty="0"/>
              <a:t> columns have Date in the wrong format, these columns display Date in M-D-Y.</a:t>
            </a:r>
          </a:p>
          <a:p>
            <a:endParaRPr lang="en-IN" sz="1800" dirty="0"/>
          </a:p>
          <a:p>
            <a:endParaRPr lang="en-IN" sz="1800" dirty="0"/>
          </a:p>
          <a:p>
            <a:endParaRPr lang="en-IN" sz="1800" dirty="0"/>
          </a:p>
          <a:p>
            <a:endParaRPr lang="en-IN" sz="1800" dirty="0"/>
          </a:p>
          <a:p>
            <a:endParaRPr lang="en-IN" sz="1800" dirty="0"/>
          </a:p>
          <a:p>
            <a:r>
              <a:rPr lang="en-IN" sz="1800" dirty="0"/>
              <a:t>There are Employees who are in more than 1 Department.</a:t>
            </a:r>
          </a:p>
        </p:txBody>
      </p:sp>
      <p:sp>
        <p:nvSpPr>
          <p:cNvPr id="3" name="Title 2">
            <a:extLst>
              <a:ext uri="{FF2B5EF4-FFF2-40B4-BE49-F238E27FC236}">
                <a16:creationId xmlns:a16="http://schemas.microsoft.com/office/drawing/2014/main" id="{B7CA553C-D724-37A8-0482-313B1E4A8D68}"/>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Data Checks/Discrepancies :</a:t>
            </a:r>
            <a:br>
              <a:rPr lang="en-IN" sz="2800" dirty="0">
                <a:solidFill>
                  <a:prstClr val="black">
                    <a:lumMod val="85000"/>
                    <a:lumOff val="15000"/>
                  </a:prstClr>
                </a:solidFill>
                <a:latin typeface="Arial"/>
                <a:cs typeface="Arial"/>
                <a:sym typeface="Arial"/>
              </a:rPr>
            </a:br>
            <a:endParaRPr lang="en-IN" dirty="0"/>
          </a:p>
        </p:txBody>
      </p:sp>
      <p:pic>
        <p:nvPicPr>
          <p:cNvPr id="5" name="Picture 4">
            <a:extLst>
              <a:ext uri="{FF2B5EF4-FFF2-40B4-BE49-F238E27FC236}">
                <a16:creationId xmlns:a16="http://schemas.microsoft.com/office/drawing/2014/main" id="{B5A3EB1E-D68A-D0E8-ABC9-037023687F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488570"/>
            <a:ext cx="10515600" cy="504538"/>
          </a:xfrm>
          <a:prstGeom prst="rect">
            <a:avLst/>
          </a:prstGeom>
        </p:spPr>
      </p:pic>
      <p:sp>
        <p:nvSpPr>
          <p:cNvPr id="7" name="Rectangle 6">
            <a:extLst>
              <a:ext uri="{FF2B5EF4-FFF2-40B4-BE49-F238E27FC236}">
                <a16:creationId xmlns:a16="http://schemas.microsoft.com/office/drawing/2014/main" id="{AF572796-303D-D94F-D02B-E0EB03DD63CA}"/>
              </a:ext>
            </a:extLst>
          </p:cNvPr>
          <p:cNvSpPr/>
          <p:nvPr/>
        </p:nvSpPr>
        <p:spPr>
          <a:xfrm>
            <a:off x="1385888" y="1488570"/>
            <a:ext cx="792956" cy="504538"/>
          </a:xfrm>
          <a:prstGeom prst="rect">
            <a:avLst/>
          </a:prstGeom>
          <a:noFill/>
          <a:ln w="38100">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8" name="Rectangle 7">
            <a:extLst>
              <a:ext uri="{FF2B5EF4-FFF2-40B4-BE49-F238E27FC236}">
                <a16:creationId xmlns:a16="http://schemas.microsoft.com/office/drawing/2014/main" id="{BB11326E-0830-956A-94C5-C922D39DA69C}"/>
              </a:ext>
            </a:extLst>
          </p:cNvPr>
          <p:cNvSpPr/>
          <p:nvPr/>
        </p:nvSpPr>
        <p:spPr>
          <a:xfrm>
            <a:off x="4824413" y="1488570"/>
            <a:ext cx="792956" cy="504538"/>
          </a:xfrm>
          <a:prstGeom prst="rect">
            <a:avLst/>
          </a:prstGeom>
          <a:noFill/>
          <a:ln w="38100">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Rectangle 8">
            <a:extLst>
              <a:ext uri="{FF2B5EF4-FFF2-40B4-BE49-F238E27FC236}">
                <a16:creationId xmlns:a16="http://schemas.microsoft.com/office/drawing/2014/main" id="{24C281CB-5243-990E-36BA-C89C9F70F737}"/>
              </a:ext>
            </a:extLst>
          </p:cNvPr>
          <p:cNvSpPr/>
          <p:nvPr/>
        </p:nvSpPr>
        <p:spPr>
          <a:xfrm>
            <a:off x="8198644" y="1488570"/>
            <a:ext cx="792956" cy="504538"/>
          </a:xfrm>
          <a:prstGeom prst="rect">
            <a:avLst/>
          </a:prstGeom>
          <a:noFill/>
          <a:ln w="38100">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pic>
        <p:nvPicPr>
          <p:cNvPr id="11" name="Picture 10">
            <a:extLst>
              <a:ext uri="{FF2B5EF4-FFF2-40B4-BE49-F238E27FC236}">
                <a16:creationId xmlns:a16="http://schemas.microsoft.com/office/drawing/2014/main" id="{76C3E144-5AC0-9614-03DA-D30E3D111D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924462"/>
            <a:ext cx="10515600" cy="504538"/>
          </a:xfrm>
          <a:prstGeom prst="rect">
            <a:avLst/>
          </a:prstGeom>
        </p:spPr>
      </p:pic>
      <p:pic>
        <p:nvPicPr>
          <p:cNvPr id="13" name="Picture 12">
            <a:extLst>
              <a:ext uri="{FF2B5EF4-FFF2-40B4-BE49-F238E27FC236}">
                <a16:creationId xmlns:a16="http://schemas.microsoft.com/office/drawing/2014/main" id="{FCDC7658-481A-E1C6-6C50-0AF2A44B35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3690907"/>
            <a:ext cx="10515600" cy="504538"/>
          </a:xfrm>
          <a:prstGeom prst="rect">
            <a:avLst/>
          </a:prstGeom>
        </p:spPr>
      </p:pic>
      <p:sp>
        <p:nvSpPr>
          <p:cNvPr id="14" name="Rectangle 13">
            <a:extLst>
              <a:ext uri="{FF2B5EF4-FFF2-40B4-BE49-F238E27FC236}">
                <a16:creationId xmlns:a16="http://schemas.microsoft.com/office/drawing/2014/main" id="{80ED901F-15FD-7EF5-01FB-22D0B0230C9E}"/>
              </a:ext>
            </a:extLst>
          </p:cNvPr>
          <p:cNvSpPr/>
          <p:nvPr/>
        </p:nvSpPr>
        <p:spPr>
          <a:xfrm>
            <a:off x="838200" y="3690907"/>
            <a:ext cx="545306" cy="504538"/>
          </a:xfrm>
          <a:prstGeom prst="rect">
            <a:avLst/>
          </a:prstGeom>
          <a:noFill/>
          <a:ln w="38100">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6" name="Rectangle 15">
            <a:extLst>
              <a:ext uri="{FF2B5EF4-FFF2-40B4-BE49-F238E27FC236}">
                <a16:creationId xmlns:a16="http://schemas.microsoft.com/office/drawing/2014/main" id="{D941CF95-9712-F969-7964-4B235C13CE2C}"/>
              </a:ext>
            </a:extLst>
          </p:cNvPr>
          <p:cNvSpPr/>
          <p:nvPr/>
        </p:nvSpPr>
        <p:spPr>
          <a:xfrm>
            <a:off x="9555957" y="3690907"/>
            <a:ext cx="545306" cy="504538"/>
          </a:xfrm>
          <a:prstGeom prst="rect">
            <a:avLst/>
          </a:prstGeom>
          <a:noFill/>
          <a:ln w="38100">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7" name="Rectangle 16">
            <a:extLst>
              <a:ext uri="{FF2B5EF4-FFF2-40B4-BE49-F238E27FC236}">
                <a16:creationId xmlns:a16="http://schemas.microsoft.com/office/drawing/2014/main" id="{8646211B-9720-1A3D-7E37-8051EDFD805D}"/>
              </a:ext>
            </a:extLst>
          </p:cNvPr>
          <p:cNvSpPr/>
          <p:nvPr/>
        </p:nvSpPr>
        <p:spPr>
          <a:xfrm>
            <a:off x="838200" y="2924462"/>
            <a:ext cx="545306" cy="504538"/>
          </a:xfrm>
          <a:prstGeom prst="rect">
            <a:avLst/>
          </a:prstGeom>
          <a:noFill/>
          <a:ln w="38100">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8" name="Rectangle 17">
            <a:extLst>
              <a:ext uri="{FF2B5EF4-FFF2-40B4-BE49-F238E27FC236}">
                <a16:creationId xmlns:a16="http://schemas.microsoft.com/office/drawing/2014/main" id="{A1429CFC-8C62-F0DA-7DAF-745ADFCA1113}"/>
              </a:ext>
            </a:extLst>
          </p:cNvPr>
          <p:cNvSpPr/>
          <p:nvPr/>
        </p:nvSpPr>
        <p:spPr>
          <a:xfrm>
            <a:off x="9555957" y="2924462"/>
            <a:ext cx="545306" cy="504538"/>
          </a:xfrm>
          <a:prstGeom prst="rect">
            <a:avLst/>
          </a:prstGeom>
          <a:noFill/>
          <a:ln w="38100">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511083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0C00E-BF17-7D23-E4D1-93AA2AFF6BE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9054EB1-EBBF-6B3A-4683-0EE9C1064483}"/>
              </a:ext>
            </a:extLst>
          </p:cNvPr>
          <p:cNvSpPr>
            <a:spLocks noGrp="1"/>
          </p:cNvSpPr>
          <p:nvPr>
            <p:ph type="body" idx="1"/>
          </p:nvPr>
        </p:nvSpPr>
        <p:spPr>
          <a:xfrm>
            <a:off x="590550" y="957264"/>
            <a:ext cx="10763250" cy="5229224"/>
          </a:xfrm>
        </p:spPr>
        <p:txBody>
          <a:bodyPr>
            <a:normAutofit/>
          </a:bodyPr>
          <a:lstStyle/>
          <a:p>
            <a:pPr marL="186262" indent="0">
              <a:buNone/>
            </a:pPr>
            <a:r>
              <a:rPr lang="en-IN" sz="1800" b="1" dirty="0" err="1"/>
              <a:t>Emp_Info</a:t>
            </a:r>
            <a:r>
              <a:rPr lang="en-IN" sz="1800" b="1" dirty="0"/>
              <a:t> Table:</a:t>
            </a:r>
          </a:p>
          <a:p>
            <a:pPr marL="186262" indent="0">
              <a:buNone/>
            </a:pPr>
            <a:endParaRPr lang="en-IN" sz="1800" b="1" dirty="0"/>
          </a:p>
          <a:p>
            <a:pPr marL="186262" indent="0">
              <a:buNone/>
            </a:pPr>
            <a:endParaRPr lang="en-IN" sz="1800" b="1" dirty="0"/>
          </a:p>
          <a:p>
            <a:pPr marL="186262" indent="0">
              <a:buNone/>
            </a:pPr>
            <a:endParaRPr lang="en-IN" sz="1800" b="1" dirty="0"/>
          </a:p>
          <a:p>
            <a:r>
              <a:rPr lang="en-IN" sz="1800" dirty="0"/>
              <a:t>We</a:t>
            </a:r>
            <a:r>
              <a:rPr lang="en-IN" sz="1800" b="1" dirty="0"/>
              <a:t> </a:t>
            </a:r>
            <a:r>
              <a:rPr lang="en-IN" sz="1800" dirty="0"/>
              <a:t>changed the Columns – DOB, </a:t>
            </a:r>
            <a:r>
              <a:rPr lang="en-IN" sz="1800" dirty="0" err="1"/>
              <a:t>DoJ</a:t>
            </a:r>
            <a:r>
              <a:rPr lang="en-IN" sz="1800" dirty="0"/>
              <a:t>, </a:t>
            </a:r>
            <a:r>
              <a:rPr lang="en-IN" sz="1800" dirty="0" err="1"/>
              <a:t>Last_date</a:t>
            </a:r>
            <a:r>
              <a:rPr lang="en-IN" sz="1800" dirty="0"/>
              <a:t> to D-M-Y Format using Text to Columns.</a:t>
            </a:r>
          </a:p>
          <a:p>
            <a:endParaRPr lang="en-IN" sz="1800" dirty="0"/>
          </a:p>
          <a:p>
            <a:r>
              <a:rPr lang="en-IN" sz="1800" dirty="0"/>
              <a:t>We added a new column called </a:t>
            </a:r>
            <a:r>
              <a:rPr lang="en-IN" sz="1800" dirty="0" err="1"/>
              <a:t>Performance_issues</a:t>
            </a:r>
            <a:r>
              <a:rPr lang="en-IN" sz="1800" dirty="0"/>
              <a:t> which displays 1 if an employee has salary above 80000 And their </a:t>
            </a:r>
            <a:r>
              <a:rPr lang="en-IN" sz="1800" dirty="0" err="1"/>
              <a:t>Last_performance_rating</a:t>
            </a:r>
            <a:r>
              <a:rPr lang="en-IN" sz="1800" dirty="0"/>
              <a:t> is “C” or “PIP” and displays 0 if not.</a:t>
            </a:r>
          </a:p>
          <a:p>
            <a:endParaRPr lang="en-IN" sz="1800" dirty="0"/>
          </a:p>
          <a:p>
            <a:r>
              <a:rPr lang="en-IN" sz="1800" dirty="0"/>
              <a:t>We added a new column which displays 1-5 based on </a:t>
            </a:r>
            <a:r>
              <a:rPr lang="en-IN" sz="1800" dirty="0" err="1"/>
              <a:t>Last_performance_rating</a:t>
            </a:r>
            <a:r>
              <a:rPr lang="en-IN" sz="1800" dirty="0"/>
              <a:t> column, where 5=S, 4=A, 3=B, 2=C, 1=PIP.</a:t>
            </a:r>
          </a:p>
          <a:p>
            <a:pPr marL="186262" indent="0">
              <a:buNone/>
            </a:pPr>
            <a:endParaRPr lang="en-IN" sz="1800" dirty="0"/>
          </a:p>
        </p:txBody>
      </p:sp>
      <p:sp>
        <p:nvSpPr>
          <p:cNvPr id="3" name="Title 2">
            <a:extLst>
              <a:ext uri="{FF2B5EF4-FFF2-40B4-BE49-F238E27FC236}">
                <a16:creationId xmlns:a16="http://schemas.microsoft.com/office/drawing/2014/main" id="{0E2AC165-4B42-25C0-A386-02B1E83F66DB}"/>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STEPS PERFORMED FOR DATA PREPARATION :</a:t>
            </a:r>
            <a:br>
              <a:rPr lang="en-IN" sz="2800" dirty="0">
                <a:solidFill>
                  <a:prstClr val="black">
                    <a:lumMod val="85000"/>
                    <a:lumOff val="15000"/>
                  </a:prstClr>
                </a:solidFill>
                <a:latin typeface="Arial"/>
                <a:cs typeface="Arial"/>
                <a:sym typeface="Arial"/>
              </a:rPr>
            </a:br>
            <a:endParaRPr lang="en-IN" dirty="0"/>
          </a:p>
        </p:txBody>
      </p:sp>
      <p:pic>
        <p:nvPicPr>
          <p:cNvPr id="6" name="Picture 5">
            <a:extLst>
              <a:ext uri="{FF2B5EF4-FFF2-40B4-BE49-F238E27FC236}">
                <a16:creationId xmlns:a16="http://schemas.microsoft.com/office/drawing/2014/main" id="{D86454A5-B959-DEA7-CB50-FEF2CC7313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522" y="1529009"/>
            <a:ext cx="10756928" cy="771036"/>
          </a:xfrm>
          <a:prstGeom prst="rect">
            <a:avLst/>
          </a:prstGeom>
        </p:spPr>
      </p:pic>
    </p:spTree>
    <p:extLst>
      <p:ext uri="{BB962C8B-B14F-4D97-AF65-F5344CB8AC3E}">
        <p14:creationId xmlns:p14="http://schemas.microsoft.com/office/powerpoint/2010/main" val="3373345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6112B-F8D5-F59E-6EEC-21D16ECD0CD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8302443-5B6B-0AF9-5B40-6E12C7DBFA63}"/>
              </a:ext>
            </a:extLst>
          </p:cNvPr>
          <p:cNvSpPr>
            <a:spLocks noGrp="1"/>
          </p:cNvSpPr>
          <p:nvPr>
            <p:ph type="body" idx="1"/>
          </p:nvPr>
        </p:nvSpPr>
        <p:spPr>
          <a:xfrm>
            <a:off x="514349" y="992981"/>
            <a:ext cx="11115675" cy="5193507"/>
          </a:xfrm>
        </p:spPr>
        <p:txBody>
          <a:bodyPr>
            <a:normAutofit/>
          </a:bodyPr>
          <a:lstStyle/>
          <a:p>
            <a:pPr marL="186262" indent="0">
              <a:buNone/>
            </a:pPr>
            <a:r>
              <a:rPr lang="en-IN" sz="2400" b="1" dirty="0"/>
              <a:t>KPI’s:</a:t>
            </a:r>
          </a:p>
          <a:p>
            <a:pPr marL="186262" indent="0">
              <a:buNone/>
            </a:pPr>
            <a:endParaRPr lang="en-IN" sz="2400" b="1" dirty="0"/>
          </a:p>
          <a:p>
            <a:pPr marL="186262" indent="0">
              <a:buNone/>
            </a:pPr>
            <a:endParaRPr lang="en-IN" sz="2400" b="1" dirty="0"/>
          </a:p>
          <a:p>
            <a:pPr marL="186262" indent="0">
              <a:buNone/>
            </a:pPr>
            <a:endParaRPr lang="en-IN" sz="2400" b="1" dirty="0"/>
          </a:p>
          <a:p>
            <a:r>
              <a:rPr lang="en-IN" sz="1800" dirty="0"/>
              <a:t>The total salary is 27 Million and the Average salary is 53.17 thousand.</a:t>
            </a:r>
          </a:p>
          <a:p>
            <a:r>
              <a:rPr lang="en-IN" sz="1800" dirty="0"/>
              <a:t>Total employees is 500, with 456 still in the firm and 44 having left.</a:t>
            </a:r>
          </a:p>
          <a:p>
            <a:r>
              <a:rPr lang="en-IN" sz="1800" dirty="0"/>
              <a:t>There are 306 male employees and 194 female employees.</a:t>
            </a:r>
          </a:p>
          <a:p>
            <a:r>
              <a:rPr lang="en-IN" sz="1800" dirty="0"/>
              <a:t>There are 188 top performers (Employees with Performance rating of “S” or “A”)</a:t>
            </a:r>
          </a:p>
          <a:p>
            <a:r>
              <a:rPr lang="en-IN" sz="1800" dirty="0"/>
              <a:t>There are 8 bad performers (Employees with Performance rating of “PIP” or “C” and salary above 80,000)</a:t>
            </a:r>
          </a:p>
        </p:txBody>
      </p:sp>
      <p:sp>
        <p:nvSpPr>
          <p:cNvPr id="3" name="Title 2">
            <a:extLst>
              <a:ext uri="{FF2B5EF4-FFF2-40B4-BE49-F238E27FC236}">
                <a16:creationId xmlns:a16="http://schemas.microsoft.com/office/drawing/2014/main" id="{1F6AF600-3B6F-F4DC-9E13-2E2C33D4BE17}"/>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DETAILED ANALYSIS OUTPUTS :</a:t>
            </a:r>
            <a:br>
              <a:rPr lang="en-IN" sz="2800" dirty="0">
                <a:solidFill>
                  <a:prstClr val="black">
                    <a:lumMod val="85000"/>
                    <a:lumOff val="15000"/>
                  </a:prstClr>
                </a:solidFill>
                <a:latin typeface="Arial"/>
                <a:cs typeface="Arial"/>
                <a:sym typeface="Arial"/>
              </a:rPr>
            </a:br>
            <a:endParaRPr lang="en-IN" dirty="0"/>
          </a:p>
        </p:txBody>
      </p:sp>
      <p:pic>
        <p:nvPicPr>
          <p:cNvPr id="11" name="Picture 10">
            <a:extLst>
              <a:ext uri="{FF2B5EF4-FFF2-40B4-BE49-F238E27FC236}">
                <a16:creationId xmlns:a16="http://schemas.microsoft.com/office/drawing/2014/main" id="{47778D2B-4AF1-E924-F9D2-EF56AAD661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9247" y="1693068"/>
            <a:ext cx="9036845" cy="895189"/>
          </a:xfrm>
          <a:prstGeom prst="rect">
            <a:avLst/>
          </a:prstGeom>
        </p:spPr>
      </p:pic>
      <p:pic>
        <p:nvPicPr>
          <p:cNvPr id="13" name="Picture 12">
            <a:extLst>
              <a:ext uri="{FF2B5EF4-FFF2-40B4-BE49-F238E27FC236}">
                <a16:creationId xmlns:a16="http://schemas.microsoft.com/office/drawing/2014/main" id="{F03E43CC-37C1-D7B4-68BB-F4203B644C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349" y="1680372"/>
            <a:ext cx="2574898" cy="895189"/>
          </a:xfrm>
          <a:prstGeom prst="rect">
            <a:avLst/>
          </a:prstGeom>
        </p:spPr>
      </p:pic>
    </p:spTree>
    <p:extLst>
      <p:ext uri="{BB962C8B-B14F-4D97-AF65-F5344CB8AC3E}">
        <p14:creationId xmlns:p14="http://schemas.microsoft.com/office/powerpoint/2010/main" val="1771397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A9016-D34E-1DB4-0F1B-E8F7F8F233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4074C2C-EB7B-6726-2E54-417F2D6467A2}"/>
              </a:ext>
            </a:extLst>
          </p:cNvPr>
          <p:cNvSpPr>
            <a:spLocks noGrp="1"/>
          </p:cNvSpPr>
          <p:nvPr>
            <p:ph type="body" idx="1"/>
          </p:nvPr>
        </p:nvSpPr>
        <p:spPr>
          <a:xfrm>
            <a:off x="514349" y="842963"/>
            <a:ext cx="11115675" cy="5343526"/>
          </a:xfrm>
        </p:spPr>
        <p:txBody>
          <a:bodyPr>
            <a:normAutofit fontScale="92500" lnSpcReduction="10000"/>
          </a:bodyPr>
          <a:lstStyle/>
          <a:p>
            <a:pPr marL="186262" indent="0">
              <a:buNone/>
            </a:pPr>
            <a:r>
              <a:rPr lang="en-IN" sz="2600" b="1" dirty="0"/>
              <a:t>Department Level:</a:t>
            </a:r>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r>
              <a:rPr lang="en-IN" sz="1900" dirty="0"/>
              <a:t>Here we have the Total salary, average salary, count of employees and count of top and bad performers per department</a:t>
            </a:r>
          </a:p>
          <a:p>
            <a:pPr marL="186262" indent="0">
              <a:buNone/>
            </a:pPr>
            <a:endParaRPr lang="en-IN" sz="2400" b="1" dirty="0"/>
          </a:p>
        </p:txBody>
      </p:sp>
      <p:sp>
        <p:nvSpPr>
          <p:cNvPr id="3" name="Title 2">
            <a:extLst>
              <a:ext uri="{FF2B5EF4-FFF2-40B4-BE49-F238E27FC236}">
                <a16:creationId xmlns:a16="http://schemas.microsoft.com/office/drawing/2014/main" id="{8CA0A1C2-1085-6197-1800-85FD9C715982}"/>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DETAILED ANALYSIS OUTPUTS :</a:t>
            </a:r>
            <a:br>
              <a:rPr lang="en-IN" sz="2800" dirty="0">
                <a:solidFill>
                  <a:prstClr val="black">
                    <a:lumMod val="85000"/>
                    <a:lumOff val="15000"/>
                  </a:prstClr>
                </a:solidFill>
                <a:latin typeface="Arial"/>
                <a:cs typeface="Arial"/>
                <a:sym typeface="Arial"/>
              </a:rPr>
            </a:br>
            <a:endParaRPr lang="en-IN" dirty="0"/>
          </a:p>
        </p:txBody>
      </p:sp>
      <p:pic>
        <p:nvPicPr>
          <p:cNvPr id="9" name="Picture 8">
            <a:extLst>
              <a:ext uri="{FF2B5EF4-FFF2-40B4-BE49-F238E27FC236}">
                <a16:creationId xmlns:a16="http://schemas.microsoft.com/office/drawing/2014/main" id="{89D942BD-C5B9-A9DD-1920-AF458651DA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788" y="1321738"/>
            <a:ext cx="9719237" cy="4146899"/>
          </a:xfrm>
          <a:prstGeom prst="rect">
            <a:avLst/>
          </a:prstGeom>
        </p:spPr>
      </p:pic>
    </p:spTree>
    <p:extLst>
      <p:ext uri="{BB962C8B-B14F-4D97-AF65-F5344CB8AC3E}">
        <p14:creationId xmlns:p14="http://schemas.microsoft.com/office/powerpoint/2010/main" val="3851670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49B17-3753-C083-DC90-6A42330FF9A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BE7273E-235A-13FC-244E-DAAD05F90FD6}"/>
              </a:ext>
            </a:extLst>
          </p:cNvPr>
          <p:cNvSpPr>
            <a:spLocks noGrp="1"/>
          </p:cNvSpPr>
          <p:nvPr>
            <p:ph type="body" idx="1"/>
          </p:nvPr>
        </p:nvSpPr>
        <p:spPr>
          <a:xfrm>
            <a:off x="514349" y="992981"/>
            <a:ext cx="11115675" cy="5193507"/>
          </a:xfrm>
        </p:spPr>
        <p:txBody>
          <a:bodyPr>
            <a:normAutofit/>
          </a:bodyPr>
          <a:lstStyle/>
          <a:p>
            <a:pPr marL="186262" indent="0">
              <a:buNone/>
            </a:pPr>
            <a:r>
              <a:rPr lang="en-IN" sz="2400" b="1" dirty="0"/>
              <a:t>Department Level:</a:t>
            </a:r>
          </a:p>
          <a:p>
            <a:r>
              <a:rPr lang="en-IN" sz="1800" dirty="0"/>
              <a:t>Production has the highest top performing employees and Sales has the highest bad performing employees.</a:t>
            </a:r>
          </a:p>
          <a:p>
            <a:r>
              <a:rPr lang="en-IN" sz="1800" dirty="0"/>
              <a:t>Sales has the highest average salary</a:t>
            </a:r>
          </a:p>
          <a:p>
            <a:r>
              <a:rPr lang="en-IN" sz="1800" dirty="0"/>
              <a:t>Development has the highest total salary and employee count</a:t>
            </a:r>
          </a:p>
          <a:p>
            <a:r>
              <a:rPr lang="en-IN" sz="1800" dirty="0"/>
              <a:t>From SQL queries we get to know that there are 51 employees who are there in 2 Departments.</a:t>
            </a:r>
          </a:p>
          <a:p>
            <a:endParaRPr lang="en-IN" sz="1800" dirty="0"/>
          </a:p>
          <a:p>
            <a:endParaRPr lang="en-IN" sz="1800" dirty="0"/>
          </a:p>
          <a:p>
            <a:pPr marL="186262" indent="0">
              <a:buNone/>
            </a:pPr>
            <a:endParaRPr lang="en-IN" sz="1800" dirty="0"/>
          </a:p>
          <a:p>
            <a:r>
              <a:rPr lang="en-IN" sz="1800" dirty="0"/>
              <a:t>These Departments saw the highest hiring in past 2 years.</a:t>
            </a:r>
          </a:p>
          <a:p>
            <a:pPr marL="186262" indent="0">
              <a:buNone/>
            </a:pPr>
            <a:endParaRPr lang="en-IN" sz="1800" dirty="0"/>
          </a:p>
        </p:txBody>
      </p:sp>
      <p:sp>
        <p:nvSpPr>
          <p:cNvPr id="3" name="Title 2">
            <a:extLst>
              <a:ext uri="{FF2B5EF4-FFF2-40B4-BE49-F238E27FC236}">
                <a16:creationId xmlns:a16="http://schemas.microsoft.com/office/drawing/2014/main" id="{197FD900-6F2A-8403-042D-31D00B1D5199}"/>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DETAILED ANALYSIS OUTPUTS :</a:t>
            </a:r>
            <a:br>
              <a:rPr lang="en-IN" sz="2800" dirty="0">
                <a:solidFill>
                  <a:prstClr val="black">
                    <a:lumMod val="85000"/>
                    <a:lumOff val="15000"/>
                  </a:prstClr>
                </a:solidFill>
                <a:latin typeface="Arial"/>
                <a:cs typeface="Arial"/>
                <a:sym typeface="Arial"/>
              </a:rPr>
            </a:br>
            <a:endParaRPr lang="en-IN" dirty="0"/>
          </a:p>
        </p:txBody>
      </p:sp>
      <p:pic>
        <p:nvPicPr>
          <p:cNvPr id="5" name="Picture 4">
            <a:extLst>
              <a:ext uri="{FF2B5EF4-FFF2-40B4-BE49-F238E27FC236}">
                <a16:creationId xmlns:a16="http://schemas.microsoft.com/office/drawing/2014/main" id="{BB5008C9-2A41-4728-1D7E-6FB2D57326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740" y="3145132"/>
            <a:ext cx="2119480" cy="1160667"/>
          </a:xfrm>
          <a:prstGeom prst="rect">
            <a:avLst/>
          </a:prstGeom>
        </p:spPr>
      </p:pic>
    </p:spTree>
    <p:extLst>
      <p:ext uri="{BB962C8B-B14F-4D97-AF65-F5344CB8AC3E}">
        <p14:creationId xmlns:p14="http://schemas.microsoft.com/office/powerpoint/2010/main" val="16808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BB9A4-5864-ECDF-1E1D-687197761F9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4C14D15-ACD8-82B1-AEB8-3697ED6C4BF0}"/>
              </a:ext>
            </a:extLst>
          </p:cNvPr>
          <p:cNvSpPr>
            <a:spLocks noGrp="1"/>
          </p:cNvSpPr>
          <p:nvPr>
            <p:ph type="body" idx="1"/>
          </p:nvPr>
        </p:nvSpPr>
        <p:spPr>
          <a:xfrm>
            <a:off x="514349" y="992981"/>
            <a:ext cx="11115675" cy="5193507"/>
          </a:xfrm>
        </p:spPr>
        <p:txBody>
          <a:bodyPr>
            <a:normAutofit/>
          </a:bodyPr>
          <a:lstStyle/>
          <a:p>
            <a:pPr marL="186262" indent="0">
              <a:buNone/>
            </a:pPr>
            <a:r>
              <a:rPr lang="en-IN" sz="2400" b="1" dirty="0"/>
              <a:t>Department Level:</a:t>
            </a:r>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r>
              <a:rPr lang="en-IN" sz="1800" dirty="0"/>
              <a:t>These are the employees from each Department/Job title with “PIP” and “C” rating.</a:t>
            </a:r>
          </a:p>
        </p:txBody>
      </p:sp>
      <p:sp>
        <p:nvSpPr>
          <p:cNvPr id="3" name="Title 2">
            <a:extLst>
              <a:ext uri="{FF2B5EF4-FFF2-40B4-BE49-F238E27FC236}">
                <a16:creationId xmlns:a16="http://schemas.microsoft.com/office/drawing/2014/main" id="{5374E64D-5100-200F-070C-F880A1840115}"/>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DETAILED ANALYSIS OUTPUTS :</a:t>
            </a:r>
            <a:br>
              <a:rPr lang="en-IN" sz="2800" dirty="0">
                <a:solidFill>
                  <a:prstClr val="black">
                    <a:lumMod val="85000"/>
                    <a:lumOff val="15000"/>
                  </a:prstClr>
                </a:solidFill>
                <a:latin typeface="Arial"/>
                <a:cs typeface="Arial"/>
                <a:sym typeface="Arial"/>
              </a:rPr>
            </a:br>
            <a:endParaRPr lang="en-IN" dirty="0"/>
          </a:p>
        </p:txBody>
      </p:sp>
      <p:pic>
        <p:nvPicPr>
          <p:cNvPr id="8" name="Picture 7">
            <a:extLst>
              <a:ext uri="{FF2B5EF4-FFF2-40B4-BE49-F238E27FC236}">
                <a16:creationId xmlns:a16="http://schemas.microsoft.com/office/drawing/2014/main" id="{E78EC4FE-194C-CEBE-1EDF-B6A3C39A29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971" y="1484572"/>
            <a:ext cx="5350029" cy="2044441"/>
          </a:xfrm>
          <a:prstGeom prst="rect">
            <a:avLst/>
          </a:prstGeom>
        </p:spPr>
      </p:pic>
      <p:pic>
        <p:nvPicPr>
          <p:cNvPr id="12" name="Picture 11">
            <a:extLst>
              <a:ext uri="{FF2B5EF4-FFF2-40B4-BE49-F238E27FC236}">
                <a16:creationId xmlns:a16="http://schemas.microsoft.com/office/drawing/2014/main" id="{EAEB916A-CA50-BF6D-C184-F0CA55C98E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971" y="3646884"/>
            <a:ext cx="5350029" cy="2049366"/>
          </a:xfrm>
          <a:prstGeom prst="rect">
            <a:avLst/>
          </a:prstGeom>
        </p:spPr>
      </p:pic>
    </p:spTree>
    <p:extLst>
      <p:ext uri="{BB962C8B-B14F-4D97-AF65-F5344CB8AC3E}">
        <p14:creationId xmlns:p14="http://schemas.microsoft.com/office/powerpoint/2010/main" val="1096456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01BAC-7F45-583D-3CC8-8E35E05EAA5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EDDFA51-7E90-FAE7-D0B1-8B5A138B97B3}"/>
              </a:ext>
            </a:extLst>
          </p:cNvPr>
          <p:cNvSpPr>
            <a:spLocks noGrp="1"/>
          </p:cNvSpPr>
          <p:nvPr>
            <p:ph type="body" idx="1"/>
          </p:nvPr>
        </p:nvSpPr>
        <p:spPr>
          <a:xfrm>
            <a:off x="514349" y="992981"/>
            <a:ext cx="11115675" cy="5193507"/>
          </a:xfrm>
        </p:spPr>
        <p:txBody>
          <a:bodyPr>
            <a:normAutofit/>
          </a:bodyPr>
          <a:lstStyle/>
          <a:p>
            <a:pPr marL="186262" indent="0">
              <a:buNone/>
            </a:pPr>
            <a:r>
              <a:rPr lang="en-IN" sz="2400" b="1" dirty="0"/>
              <a:t>Employee Level:</a:t>
            </a:r>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1800" dirty="0"/>
          </a:p>
          <a:p>
            <a:r>
              <a:rPr lang="en-IN" sz="1800" dirty="0"/>
              <a:t>There are 306 male and 194 female employees.</a:t>
            </a:r>
          </a:p>
          <a:p>
            <a:r>
              <a:rPr lang="en-IN" sz="1800" dirty="0"/>
              <a:t>The average salary of male employees is 52.61k and 54.05k of female employees.</a:t>
            </a:r>
          </a:p>
          <a:p>
            <a:r>
              <a:rPr lang="en-IN" sz="1800" dirty="0"/>
              <a:t>The employees joining is slowly decreasing as the years pass.</a:t>
            </a:r>
          </a:p>
        </p:txBody>
      </p:sp>
      <p:sp>
        <p:nvSpPr>
          <p:cNvPr id="3" name="Title 2">
            <a:extLst>
              <a:ext uri="{FF2B5EF4-FFF2-40B4-BE49-F238E27FC236}">
                <a16:creationId xmlns:a16="http://schemas.microsoft.com/office/drawing/2014/main" id="{9487756A-4D90-326F-A8B7-CBD4B05CB133}"/>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DETAILED ANALYSIS OUTPUTS :</a:t>
            </a:r>
            <a:br>
              <a:rPr lang="en-IN" sz="2800" dirty="0">
                <a:solidFill>
                  <a:prstClr val="black">
                    <a:lumMod val="85000"/>
                    <a:lumOff val="15000"/>
                  </a:prstClr>
                </a:solidFill>
                <a:latin typeface="Arial"/>
                <a:cs typeface="Arial"/>
                <a:sym typeface="Arial"/>
              </a:rPr>
            </a:br>
            <a:endParaRPr lang="en-IN" dirty="0"/>
          </a:p>
        </p:txBody>
      </p:sp>
      <p:pic>
        <p:nvPicPr>
          <p:cNvPr id="6" name="Picture 5">
            <a:extLst>
              <a:ext uri="{FF2B5EF4-FFF2-40B4-BE49-F238E27FC236}">
                <a16:creationId xmlns:a16="http://schemas.microsoft.com/office/drawing/2014/main" id="{CA6D455E-6B6C-EC0F-293C-4F7CF7FB65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511" y="1552368"/>
            <a:ext cx="4196252" cy="1767443"/>
          </a:xfrm>
          <a:prstGeom prst="rect">
            <a:avLst/>
          </a:prstGeom>
        </p:spPr>
      </p:pic>
      <p:pic>
        <p:nvPicPr>
          <p:cNvPr id="8" name="Picture 7">
            <a:extLst>
              <a:ext uri="{FF2B5EF4-FFF2-40B4-BE49-F238E27FC236}">
                <a16:creationId xmlns:a16="http://schemas.microsoft.com/office/drawing/2014/main" id="{A8CFD268-BCB7-F49C-8061-59F07F9DA7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7484" y="1552368"/>
            <a:ext cx="6582540" cy="1767443"/>
          </a:xfrm>
          <a:prstGeom prst="rect">
            <a:avLst/>
          </a:prstGeom>
        </p:spPr>
      </p:pic>
    </p:spTree>
    <p:extLst>
      <p:ext uri="{BB962C8B-B14F-4D97-AF65-F5344CB8AC3E}">
        <p14:creationId xmlns:p14="http://schemas.microsoft.com/office/powerpoint/2010/main" val="3304063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3123C-C57D-AA51-D6A3-4DB59A205B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918259D-8B8F-BA8B-1CCF-0D18D04FBD7A}"/>
              </a:ext>
            </a:extLst>
          </p:cNvPr>
          <p:cNvSpPr>
            <a:spLocks noGrp="1"/>
          </p:cNvSpPr>
          <p:nvPr>
            <p:ph type="body" idx="1"/>
          </p:nvPr>
        </p:nvSpPr>
        <p:spPr>
          <a:xfrm>
            <a:off x="514349" y="992981"/>
            <a:ext cx="11115675" cy="5193507"/>
          </a:xfrm>
        </p:spPr>
        <p:txBody>
          <a:bodyPr>
            <a:normAutofit/>
          </a:bodyPr>
          <a:lstStyle/>
          <a:p>
            <a:pPr marL="186262" indent="0">
              <a:buNone/>
            </a:pPr>
            <a:r>
              <a:rPr lang="en-IN" sz="2400" b="1" dirty="0"/>
              <a:t>Employee Level:</a:t>
            </a:r>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r>
              <a:rPr lang="en-IN" sz="1800" dirty="0"/>
              <a:t>These are the number of employees in every job in the company.</a:t>
            </a:r>
            <a:endParaRPr lang="en-IN" sz="2400" b="1" dirty="0"/>
          </a:p>
          <a:p>
            <a:r>
              <a:rPr lang="en-IN" sz="1800" dirty="0"/>
              <a:t>Staff has the highest total and average salary since most employees are Staffs.</a:t>
            </a:r>
          </a:p>
          <a:p>
            <a:r>
              <a:rPr lang="en-IN" sz="1800" dirty="0"/>
              <a:t>Assistant engineer have the lowest total salary since there are least no. of employees who are Assistant engineer.</a:t>
            </a:r>
          </a:p>
          <a:p>
            <a:r>
              <a:rPr lang="en-IN" sz="1800" dirty="0"/>
              <a:t>Senior engineer have the lowest average salary.</a:t>
            </a:r>
          </a:p>
          <a:p>
            <a:endParaRPr lang="en-IN" sz="1800" dirty="0"/>
          </a:p>
          <a:p>
            <a:pPr marL="186262" indent="0">
              <a:buNone/>
            </a:pPr>
            <a:endParaRPr lang="en-IN" sz="2400" b="1" dirty="0"/>
          </a:p>
          <a:p>
            <a:pPr marL="186262" indent="0">
              <a:buNone/>
            </a:pPr>
            <a:endParaRPr lang="en-IN" sz="2400" b="1" dirty="0"/>
          </a:p>
          <a:p>
            <a:pPr marL="186262" indent="0">
              <a:buNone/>
            </a:pPr>
            <a:endParaRPr lang="en-IN" sz="1800" b="1" dirty="0"/>
          </a:p>
          <a:p>
            <a:pPr marL="186262" indent="0">
              <a:buNone/>
            </a:pPr>
            <a:endParaRPr lang="en-IN" sz="2400" b="1" dirty="0"/>
          </a:p>
        </p:txBody>
      </p:sp>
      <p:sp>
        <p:nvSpPr>
          <p:cNvPr id="3" name="Title 2">
            <a:extLst>
              <a:ext uri="{FF2B5EF4-FFF2-40B4-BE49-F238E27FC236}">
                <a16:creationId xmlns:a16="http://schemas.microsoft.com/office/drawing/2014/main" id="{0BECA8DE-8FE0-F93F-0648-BE063DA6781F}"/>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DETAILED ANALYSIS OUTPUTS :</a:t>
            </a:r>
            <a:br>
              <a:rPr lang="en-IN" sz="2800" dirty="0">
                <a:solidFill>
                  <a:prstClr val="black">
                    <a:lumMod val="85000"/>
                    <a:lumOff val="15000"/>
                  </a:prstClr>
                </a:solidFill>
                <a:latin typeface="Arial"/>
                <a:cs typeface="Arial"/>
                <a:sym typeface="Arial"/>
              </a:rPr>
            </a:br>
            <a:endParaRPr lang="en-IN" dirty="0"/>
          </a:p>
        </p:txBody>
      </p:sp>
      <p:pic>
        <p:nvPicPr>
          <p:cNvPr id="9" name="Picture 8">
            <a:extLst>
              <a:ext uri="{FF2B5EF4-FFF2-40B4-BE49-F238E27FC236}">
                <a16:creationId xmlns:a16="http://schemas.microsoft.com/office/drawing/2014/main" id="{8FC8235F-50C4-9CBB-C139-8CB777E3B7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5867" y="1505988"/>
            <a:ext cx="7341216" cy="1923012"/>
          </a:xfrm>
          <a:prstGeom prst="rect">
            <a:avLst/>
          </a:prstGeom>
        </p:spPr>
      </p:pic>
      <p:pic>
        <p:nvPicPr>
          <p:cNvPr id="10" name="Picture 9">
            <a:extLst>
              <a:ext uri="{FF2B5EF4-FFF2-40B4-BE49-F238E27FC236}">
                <a16:creationId xmlns:a16="http://schemas.microsoft.com/office/drawing/2014/main" id="{3019CB1C-08E9-C88F-40A1-A9555FABE9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917" y="1505988"/>
            <a:ext cx="3271229" cy="1923012"/>
          </a:xfrm>
          <a:prstGeom prst="rect">
            <a:avLst/>
          </a:prstGeom>
        </p:spPr>
      </p:pic>
      <p:pic>
        <p:nvPicPr>
          <p:cNvPr id="7" name="Picture 6">
            <a:extLst>
              <a:ext uri="{FF2B5EF4-FFF2-40B4-BE49-F238E27FC236}">
                <a16:creationId xmlns:a16="http://schemas.microsoft.com/office/drawing/2014/main" id="{7951D9E0-3698-D415-D2B2-4BCEE74F26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5866" y="1505987"/>
            <a:ext cx="3659389" cy="1923011"/>
          </a:xfrm>
          <a:prstGeom prst="rect">
            <a:avLst/>
          </a:prstGeom>
        </p:spPr>
      </p:pic>
    </p:spTree>
    <p:extLst>
      <p:ext uri="{BB962C8B-B14F-4D97-AF65-F5344CB8AC3E}">
        <p14:creationId xmlns:p14="http://schemas.microsoft.com/office/powerpoint/2010/main" val="1692740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45FD4-9AC5-3026-7C41-6A2E612C554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5249238-8FFF-4F19-6A2F-52D15C5D02BD}"/>
              </a:ext>
            </a:extLst>
          </p:cNvPr>
          <p:cNvSpPr>
            <a:spLocks noGrp="1"/>
          </p:cNvSpPr>
          <p:nvPr>
            <p:ph type="body" idx="1"/>
          </p:nvPr>
        </p:nvSpPr>
        <p:spPr>
          <a:xfrm>
            <a:off x="514349" y="992981"/>
            <a:ext cx="11115675" cy="5193507"/>
          </a:xfrm>
        </p:spPr>
        <p:txBody>
          <a:bodyPr>
            <a:normAutofit/>
          </a:bodyPr>
          <a:lstStyle/>
          <a:p>
            <a:pPr marL="186262" indent="0">
              <a:buNone/>
            </a:pPr>
            <a:r>
              <a:rPr lang="en-IN" sz="2400" b="1" dirty="0"/>
              <a:t>Employee Level:</a:t>
            </a:r>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r>
              <a:rPr lang="en-IN" sz="1800" dirty="0"/>
              <a:t>These are the salaries of the only 8 employees with “S/5” rating.</a:t>
            </a:r>
            <a:endParaRPr lang="en-IN" sz="1800" b="1" dirty="0"/>
          </a:p>
          <a:p>
            <a:r>
              <a:rPr lang="en-IN" sz="1800" dirty="0"/>
              <a:t>We can see max employees have Rating “A”, and least have rating “S”.</a:t>
            </a:r>
          </a:p>
          <a:p>
            <a:r>
              <a:rPr lang="en-IN" sz="1800" dirty="0"/>
              <a:t>From SQL queries we get to know that there are 51 employees who are there in 2 Departments.</a:t>
            </a:r>
          </a:p>
          <a:p>
            <a:r>
              <a:rPr lang="en-IN" sz="1800" dirty="0"/>
              <a:t>There are total 449 different employees in the company.</a:t>
            </a:r>
          </a:p>
          <a:p>
            <a:r>
              <a:rPr lang="en-IN" sz="1800" dirty="0"/>
              <a:t>The average tenure of the employees who left is 7.39 Years.</a:t>
            </a:r>
          </a:p>
          <a:p>
            <a:r>
              <a:rPr lang="en-IN" sz="1800" dirty="0"/>
              <a:t>Total no. employees in Leadership roles is 29.</a:t>
            </a:r>
          </a:p>
          <a:p>
            <a:pPr marL="186262" indent="0">
              <a:buNone/>
            </a:pPr>
            <a:endParaRPr lang="en-IN" sz="1800" dirty="0"/>
          </a:p>
          <a:p>
            <a:endParaRPr lang="en-IN" sz="1800"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1800" b="1" dirty="0"/>
          </a:p>
          <a:p>
            <a:pPr marL="186262" indent="0">
              <a:buNone/>
            </a:pPr>
            <a:endParaRPr lang="en-IN" sz="2400" b="1" dirty="0"/>
          </a:p>
        </p:txBody>
      </p:sp>
      <p:sp>
        <p:nvSpPr>
          <p:cNvPr id="3" name="Title 2">
            <a:extLst>
              <a:ext uri="{FF2B5EF4-FFF2-40B4-BE49-F238E27FC236}">
                <a16:creationId xmlns:a16="http://schemas.microsoft.com/office/drawing/2014/main" id="{3174F536-FEE7-0B6E-BFBA-40472DC0ED4B}"/>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DETAILED ANALYSIS OUTPUTS :</a:t>
            </a:r>
            <a:br>
              <a:rPr lang="en-IN" sz="2800" dirty="0">
                <a:solidFill>
                  <a:prstClr val="black">
                    <a:lumMod val="85000"/>
                    <a:lumOff val="15000"/>
                  </a:prstClr>
                </a:solidFill>
                <a:latin typeface="Arial"/>
                <a:cs typeface="Arial"/>
                <a:sym typeface="Arial"/>
              </a:rPr>
            </a:br>
            <a:endParaRPr lang="en-IN" dirty="0"/>
          </a:p>
        </p:txBody>
      </p:sp>
      <p:pic>
        <p:nvPicPr>
          <p:cNvPr id="8" name="Picture 7">
            <a:extLst>
              <a:ext uri="{FF2B5EF4-FFF2-40B4-BE49-F238E27FC236}">
                <a16:creationId xmlns:a16="http://schemas.microsoft.com/office/drawing/2014/main" id="{33DC0D16-A934-C103-E0C9-E59687C80F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1729" y="1497503"/>
            <a:ext cx="2362166" cy="1931497"/>
          </a:xfrm>
          <a:prstGeom prst="rect">
            <a:avLst/>
          </a:prstGeom>
        </p:spPr>
      </p:pic>
      <p:pic>
        <p:nvPicPr>
          <p:cNvPr id="10" name="Picture 9">
            <a:extLst>
              <a:ext uri="{FF2B5EF4-FFF2-40B4-BE49-F238E27FC236}">
                <a16:creationId xmlns:a16="http://schemas.microsoft.com/office/drawing/2014/main" id="{9A61F17E-A6B7-F57D-4B2E-1BFF2FDC10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378" y="1497503"/>
            <a:ext cx="4079539" cy="1931497"/>
          </a:xfrm>
          <a:prstGeom prst="rect">
            <a:avLst/>
          </a:prstGeom>
        </p:spPr>
      </p:pic>
    </p:spTree>
    <p:extLst>
      <p:ext uri="{BB962C8B-B14F-4D97-AF65-F5344CB8AC3E}">
        <p14:creationId xmlns:p14="http://schemas.microsoft.com/office/powerpoint/2010/main" val="3432793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672B5-F619-458A-2A79-3BCF412C054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704633A-592F-AA96-FC0D-2FE18DFA4FB0}"/>
              </a:ext>
            </a:extLst>
          </p:cNvPr>
          <p:cNvSpPr>
            <a:spLocks noGrp="1"/>
          </p:cNvSpPr>
          <p:nvPr>
            <p:ph type="body" idx="1"/>
          </p:nvPr>
        </p:nvSpPr>
        <p:spPr>
          <a:xfrm>
            <a:off x="514349" y="992981"/>
            <a:ext cx="11115675" cy="5193507"/>
          </a:xfrm>
        </p:spPr>
        <p:txBody>
          <a:bodyPr>
            <a:normAutofit/>
          </a:bodyPr>
          <a:lstStyle/>
          <a:p>
            <a:pPr marL="186262" indent="0">
              <a:buNone/>
            </a:pPr>
            <a:r>
              <a:rPr lang="en-IN" sz="2400" b="1" dirty="0"/>
              <a:t>Employee Level:</a:t>
            </a:r>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r>
              <a:rPr lang="en-IN" sz="1800" dirty="0"/>
              <a:t>From this Scatterplot, it is clear that the Ratings of the employees do not increase with the increase in the no. of projects done by them. No. of projects and Ratings are not related to each other.</a:t>
            </a:r>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1800" b="1" dirty="0"/>
          </a:p>
          <a:p>
            <a:pPr marL="186262" indent="0">
              <a:buNone/>
            </a:pPr>
            <a:endParaRPr lang="en-IN" sz="2400" b="1" dirty="0"/>
          </a:p>
        </p:txBody>
      </p:sp>
      <p:sp>
        <p:nvSpPr>
          <p:cNvPr id="3" name="Title 2">
            <a:extLst>
              <a:ext uri="{FF2B5EF4-FFF2-40B4-BE49-F238E27FC236}">
                <a16:creationId xmlns:a16="http://schemas.microsoft.com/office/drawing/2014/main" id="{CD00A319-5AFC-9C11-3BFD-038A76306E82}"/>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DETAILED ANALYSIS OUTPUTS :</a:t>
            </a:r>
            <a:br>
              <a:rPr lang="en-IN" sz="2800" dirty="0">
                <a:solidFill>
                  <a:prstClr val="black">
                    <a:lumMod val="85000"/>
                    <a:lumOff val="15000"/>
                  </a:prstClr>
                </a:solidFill>
                <a:latin typeface="Arial"/>
                <a:cs typeface="Arial"/>
                <a:sym typeface="Arial"/>
              </a:rPr>
            </a:br>
            <a:endParaRPr lang="en-IN" dirty="0"/>
          </a:p>
        </p:txBody>
      </p:sp>
      <p:pic>
        <p:nvPicPr>
          <p:cNvPr id="7" name="Picture 6">
            <a:extLst>
              <a:ext uri="{FF2B5EF4-FFF2-40B4-BE49-F238E27FC236}">
                <a16:creationId xmlns:a16="http://schemas.microsoft.com/office/drawing/2014/main" id="{FEA0A6C4-1D9B-954F-A9F6-56E7C2E2DB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173" y="1476084"/>
            <a:ext cx="4955752" cy="2903035"/>
          </a:xfrm>
          <a:prstGeom prst="rect">
            <a:avLst/>
          </a:prstGeom>
        </p:spPr>
      </p:pic>
    </p:spTree>
    <p:extLst>
      <p:ext uri="{BB962C8B-B14F-4D97-AF65-F5344CB8AC3E}">
        <p14:creationId xmlns:p14="http://schemas.microsoft.com/office/powerpoint/2010/main" val="4209129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3F3EB-185E-E1AA-3972-31470E61F68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2433B8A-BE84-F9D3-8AB8-A6741B58E393}"/>
              </a:ext>
            </a:extLst>
          </p:cNvPr>
          <p:cNvSpPr>
            <a:spLocks noGrp="1"/>
          </p:cNvSpPr>
          <p:nvPr>
            <p:ph type="body" idx="1"/>
          </p:nvPr>
        </p:nvSpPr>
        <p:spPr>
          <a:xfrm>
            <a:off x="514349" y="992981"/>
            <a:ext cx="11115675" cy="5193507"/>
          </a:xfrm>
        </p:spPr>
        <p:txBody>
          <a:bodyPr>
            <a:normAutofit/>
          </a:bodyPr>
          <a:lstStyle/>
          <a:p>
            <a:pPr marL="186262" indent="0">
              <a:buNone/>
            </a:pPr>
            <a:r>
              <a:rPr lang="en-IN" sz="2400" b="1" dirty="0"/>
              <a:t>Salary Level:</a:t>
            </a:r>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r>
              <a:rPr lang="en-IN" sz="1800" dirty="0"/>
              <a:t>These are the salaries of the only 8 employees with “S/5” rating.</a:t>
            </a:r>
            <a:endParaRPr lang="en-IN" sz="1800" b="1" dirty="0"/>
          </a:p>
          <a:p>
            <a:r>
              <a:rPr lang="en-IN" sz="1800" dirty="0"/>
              <a:t>The average salary of male employees is 52.61k and 54.05k of female employees.</a:t>
            </a:r>
          </a:p>
          <a:p>
            <a:r>
              <a:rPr lang="en-IN" sz="1800" dirty="0"/>
              <a:t>The total salary of male employees is 16m and 10m of female employees.</a:t>
            </a:r>
          </a:p>
          <a:p>
            <a:endParaRPr lang="en-IN" sz="1800"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1800" b="1" dirty="0"/>
          </a:p>
          <a:p>
            <a:pPr marL="186262" indent="0">
              <a:buNone/>
            </a:pPr>
            <a:endParaRPr lang="en-IN" sz="2400" b="1" dirty="0"/>
          </a:p>
        </p:txBody>
      </p:sp>
      <p:sp>
        <p:nvSpPr>
          <p:cNvPr id="3" name="Title 2">
            <a:extLst>
              <a:ext uri="{FF2B5EF4-FFF2-40B4-BE49-F238E27FC236}">
                <a16:creationId xmlns:a16="http://schemas.microsoft.com/office/drawing/2014/main" id="{64FF29D4-7E4F-F9F0-93C1-98B2A69B817F}"/>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DETAILED ANALYSIS OUTPUTS :</a:t>
            </a:r>
            <a:br>
              <a:rPr lang="en-IN" sz="2800" dirty="0">
                <a:solidFill>
                  <a:prstClr val="black">
                    <a:lumMod val="85000"/>
                    <a:lumOff val="15000"/>
                  </a:prstClr>
                </a:solidFill>
                <a:latin typeface="Arial"/>
                <a:cs typeface="Arial"/>
                <a:sym typeface="Arial"/>
              </a:rPr>
            </a:br>
            <a:endParaRPr lang="en-IN" dirty="0"/>
          </a:p>
        </p:txBody>
      </p:sp>
      <p:pic>
        <p:nvPicPr>
          <p:cNvPr id="7" name="Picture 6">
            <a:extLst>
              <a:ext uri="{FF2B5EF4-FFF2-40B4-BE49-F238E27FC236}">
                <a16:creationId xmlns:a16="http://schemas.microsoft.com/office/drawing/2014/main" id="{6D4C9E4E-4903-B8A4-A444-8261C0B7A5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8638" y="1497503"/>
            <a:ext cx="2240831" cy="1934979"/>
          </a:xfrm>
          <a:prstGeom prst="rect">
            <a:avLst/>
          </a:prstGeom>
        </p:spPr>
      </p:pic>
      <p:pic>
        <p:nvPicPr>
          <p:cNvPr id="9" name="Picture 8">
            <a:extLst>
              <a:ext uri="{FF2B5EF4-FFF2-40B4-BE49-F238E27FC236}">
                <a16:creationId xmlns:a16="http://schemas.microsoft.com/office/drawing/2014/main" id="{FE51DE1C-8FAB-EB9B-F3D8-D213CC7A8B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378" y="1497503"/>
            <a:ext cx="4079539" cy="1931497"/>
          </a:xfrm>
          <a:prstGeom prst="rect">
            <a:avLst/>
          </a:prstGeom>
        </p:spPr>
      </p:pic>
      <p:pic>
        <p:nvPicPr>
          <p:cNvPr id="12" name="Picture 11">
            <a:extLst>
              <a:ext uri="{FF2B5EF4-FFF2-40B4-BE49-F238E27FC236}">
                <a16:creationId xmlns:a16="http://schemas.microsoft.com/office/drawing/2014/main" id="{7727524E-4EC3-7C61-A74E-CA103A4F60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9190" y="1497503"/>
            <a:ext cx="2289182" cy="1931497"/>
          </a:xfrm>
          <a:prstGeom prst="rect">
            <a:avLst/>
          </a:prstGeom>
        </p:spPr>
      </p:pic>
    </p:spTree>
    <p:extLst>
      <p:ext uri="{BB962C8B-B14F-4D97-AF65-F5344CB8AC3E}">
        <p14:creationId xmlns:p14="http://schemas.microsoft.com/office/powerpoint/2010/main" val="2340808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E9E96-88D8-74B5-A7C8-B70BD5AC221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4B424E7-24F9-843B-2DCE-B9AB75AE20C5}"/>
              </a:ext>
            </a:extLst>
          </p:cNvPr>
          <p:cNvSpPr>
            <a:spLocks noGrp="1"/>
          </p:cNvSpPr>
          <p:nvPr>
            <p:ph type="body" idx="1"/>
          </p:nvPr>
        </p:nvSpPr>
        <p:spPr>
          <a:xfrm>
            <a:off x="514349" y="992981"/>
            <a:ext cx="11115675" cy="5193507"/>
          </a:xfrm>
        </p:spPr>
        <p:txBody>
          <a:bodyPr>
            <a:normAutofit/>
          </a:bodyPr>
          <a:lstStyle/>
          <a:p>
            <a:pPr marL="186262" indent="0">
              <a:buNone/>
            </a:pPr>
            <a:r>
              <a:rPr lang="en-IN" sz="2400" b="1" dirty="0"/>
              <a:t>Salary Level:</a:t>
            </a:r>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r>
              <a:rPr lang="en-IN" sz="1800" dirty="0"/>
              <a:t>The total salary is highest of rating “A” since it has highest no. employees and lowest of rating “S” since it has lowest no. of employees.</a:t>
            </a:r>
          </a:p>
          <a:p>
            <a:r>
              <a:rPr lang="en-IN" sz="1800" dirty="0"/>
              <a:t>The Average salary is highest of rating “A” and lowest of rating “C”.</a:t>
            </a: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1800" b="1" dirty="0"/>
          </a:p>
          <a:p>
            <a:pPr marL="186262" indent="0">
              <a:buNone/>
            </a:pPr>
            <a:endParaRPr lang="en-IN" sz="2400" b="1" dirty="0"/>
          </a:p>
        </p:txBody>
      </p:sp>
      <p:sp>
        <p:nvSpPr>
          <p:cNvPr id="3" name="Title 2">
            <a:extLst>
              <a:ext uri="{FF2B5EF4-FFF2-40B4-BE49-F238E27FC236}">
                <a16:creationId xmlns:a16="http://schemas.microsoft.com/office/drawing/2014/main" id="{149FEFB0-F0B2-95FE-F146-E89AB623AE59}"/>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DETAILED ANALYSIS OUTPUTS :</a:t>
            </a:r>
            <a:br>
              <a:rPr lang="en-IN" sz="2800" dirty="0">
                <a:solidFill>
                  <a:prstClr val="black">
                    <a:lumMod val="85000"/>
                    <a:lumOff val="15000"/>
                  </a:prstClr>
                </a:solidFill>
                <a:latin typeface="Arial"/>
                <a:cs typeface="Arial"/>
                <a:sym typeface="Arial"/>
              </a:rPr>
            </a:br>
            <a:endParaRPr lang="en-IN" dirty="0"/>
          </a:p>
        </p:txBody>
      </p:sp>
      <p:pic>
        <p:nvPicPr>
          <p:cNvPr id="11" name="Picture 10">
            <a:extLst>
              <a:ext uri="{FF2B5EF4-FFF2-40B4-BE49-F238E27FC236}">
                <a16:creationId xmlns:a16="http://schemas.microsoft.com/office/drawing/2014/main" id="{9F2FA5EF-EBD4-74F5-BD82-94D7916B78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744" y="1464469"/>
            <a:ext cx="4233841" cy="2443555"/>
          </a:xfrm>
          <a:prstGeom prst="rect">
            <a:avLst/>
          </a:prstGeom>
        </p:spPr>
      </p:pic>
      <p:pic>
        <p:nvPicPr>
          <p:cNvPr id="14" name="Picture 13">
            <a:extLst>
              <a:ext uri="{FF2B5EF4-FFF2-40B4-BE49-F238E27FC236}">
                <a16:creationId xmlns:a16="http://schemas.microsoft.com/office/drawing/2014/main" id="{07CFD178-1854-1D4F-A419-307022529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4908" y="1464469"/>
            <a:ext cx="4241018" cy="2443555"/>
          </a:xfrm>
          <a:prstGeom prst="rect">
            <a:avLst/>
          </a:prstGeom>
        </p:spPr>
      </p:pic>
    </p:spTree>
    <p:extLst>
      <p:ext uri="{BB962C8B-B14F-4D97-AF65-F5344CB8AC3E}">
        <p14:creationId xmlns:p14="http://schemas.microsoft.com/office/powerpoint/2010/main" val="80519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3C6DD-CCF1-6B71-6EE9-41CACF46594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DF0D276-ED6E-FBED-D28C-48A51E6A69B3}"/>
              </a:ext>
            </a:extLst>
          </p:cNvPr>
          <p:cNvSpPr>
            <a:spLocks noGrp="1"/>
          </p:cNvSpPr>
          <p:nvPr>
            <p:ph type="body" idx="1"/>
          </p:nvPr>
        </p:nvSpPr>
        <p:spPr>
          <a:xfrm>
            <a:off x="514349" y="992981"/>
            <a:ext cx="11115675" cy="5193507"/>
          </a:xfrm>
        </p:spPr>
        <p:txBody>
          <a:bodyPr>
            <a:normAutofit/>
          </a:bodyPr>
          <a:lstStyle/>
          <a:p>
            <a:pPr marL="186262" indent="0">
              <a:buNone/>
            </a:pPr>
            <a:r>
              <a:rPr lang="en-IN" sz="2400" b="1" dirty="0"/>
              <a:t>Salary Level:</a:t>
            </a:r>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r>
              <a:rPr lang="en-IN" sz="1800" dirty="0"/>
              <a:t>The Total and average salary are varying and the salary of an employee clearly doesn’t depend on their performance rating.</a:t>
            </a:r>
            <a:endParaRPr lang="en-IN" sz="2400" b="1" dirty="0"/>
          </a:p>
          <a:p>
            <a:pPr marL="186262" indent="0">
              <a:buNone/>
            </a:pPr>
            <a:endParaRPr lang="en-IN" sz="2400" b="1" dirty="0"/>
          </a:p>
          <a:p>
            <a:pPr marL="186262" indent="0">
              <a:buNone/>
            </a:pPr>
            <a:endParaRPr lang="en-IN" sz="2400" b="1" dirty="0"/>
          </a:p>
          <a:p>
            <a:pPr marL="186262" indent="0">
              <a:buNone/>
            </a:pPr>
            <a:endParaRPr lang="en-IN" sz="2400" b="1" dirty="0"/>
          </a:p>
          <a:p>
            <a:pPr marL="186262" indent="0">
              <a:buNone/>
            </a:pPr>
            <a:endParaRPr lang="en-IN" sz="1800" b="1" dirty="0"/>
          </a:p>
          <a:p>
            <a:pPr marL="186262" indent="0">
              <a:buNone/>
            </a:pPr>
            <a:endParaRPr lang="en-IN" sz="2400" b="1" dirty="0"/>
          </a:p>
        </p:txBody>
      </p:sp>
      <p:sp>
        <p:nvSpPr>
          <p:cNvPr id="3" name="Title 2">
            <a:extLst>
              <a:ext uri="{FF2B5EF4-FFF2-40B4-BE49-F238E27FC236}">
                <a16:creationId xmlns:a16="http://schemas.microsoft.com/office/drawing/2014/main" id="{0218797A-7F7D-9C8F-B6F4-A85F4F1EB814}"/>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DETAILED ANALYSIS OUTPUTS :</a:t>
            </a:r>
            <a:br>
              <a:rPr lang="en-IN" sz="2800" dirty="0">
                <a:solidFill>
                  <a:prstClr val="black">
                    <a:lumMod val="85000"/>
                    <a:lumOff val="15000"/>
                  </a:prstClr>
                </a:solidFill>
                <a:latin typeface="Arial"/>
                <a:cs typeface="Arial"/>
                <a:sym typeface="Arial"/>
              </a:rPr>
            </a:br>
            <a:endParaRPr lang="en-IN" dirty="0"/>
          </a:p>
        </p:txBody>
      </p:sp>
      <p:pic>
        <p:nvPicPr>
          <p:cNvPr id="5" name="Picture 4">
            <a:extLst>
              <a:ext uri="{FF2B5EF4-FFF2-40B4-BE49-F238E27FC236}">
                <a16:creationId xmlns:a16="http://schemas.microsoft.com/office/drawing/2014/main" id="{F05FD6AE-E72D-D559-26C6-6906FE638E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069" y="1485899"/>
            <a:ext cx="5113229" cy="2943225"/>
          </a:xfrm>
          <a:prstGeom prst="rect">
            <a:avLst/>
          </a:prstGeom>
        </p:spPr>
      </p:pic>
      <p:pic>
        <p:nvPicPr>
          <p:cNvPr id="7" name="Picture 6">
            <a:extLst>
              <a:ext uri="{FF2B5EF4-FFF2-40B4-BE49-F238E27FC236}">
                <a16:creationId xmlns:a16="http://schemas.microsoft.com/office/drawing/2014/main" id="{44DAFDB0-9164-2F3C-0544-A535C88FE8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5019" y="1485898"/>
            <a:ext cx="5090984" cy="2943225"/>
          </a:xfrm>
          <a:prstGeom prst="rect">
            <a:avLst/>
          </a:prstGeom>
        </p:spPr>
      </p:pic>
    </p:spTree>
    <p:extLst>
      <p:ext uri="{BB962C8B-B14F-4D97-AF65-F5344CB8AC3E}">
        <p14:creationId xmlns:p14="http://schemas.microsoft.com/office/powerpoint/2010/main" val="1396135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5CEE6-3A50-13F1-0829-5F667D19B3A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7771B4D-5DD7-F1B7-B4CD-55B256325639}"/>
              </a:ext>
            </a:extLst>
          </p:cNvPr>
          <p:cNvSpPr>
            <a:spLocks noGrp="1"/>
          </p:cNvSpPr>
          <p:nvPr>
            <p:ph type="body" idx="1"/>
          </p:nvPr>
        </p:nvSpPr>
        <p:spPr>
          <a:xfrm>
            <a:off x="514349" y="992981"/>
            <a:ext cx="11115675" cy="5279232"/>
          </a:xfrm>
        </p:spPr>
        <p:txBody>
          <a:bodyPr>
            <a:normAutofit/>
          </a:bodyPr>
          <a:lstStyle/>
          <a:p>
            <a:r>
              <a:rPr lang="en-IN" sz="1800" dirty="0"/>
              <a:t>The hiring is slowly declining over the years, so the company can increase it a bit by letting employees with performance issues go.</a:t>
            </a:r>
          </a:p>
          <a:p>
            <a:r>
              <a:rPr lang="en-IN" sz="1800" dirty="0"/>
              <a:t>There are 28 employees with performance rating “PIP” who the company needs to deal with urgently.</a:t>
            </a:r>
          </a:p>
          <a:p>
            <a:r>
              <a:rPr lang="en-IN" sz="1800" dirty="0"/>
              <a:t>There are 125 employees with performance rating “C” who the company needs to monitor and reduce the salary if it is high.</a:t>
            </a:r>
          </a:p>
          <a:p>
            <a:r>
              <a:rPr lang="en-IN" sz="1800" dirty="0"/>
              <a:t>There are 8 employees who have performance rating of “PIP” or “C” and a salary above 80,000. The HR team needs to lower the salary of these employees.</a:t>
            </a:r>
          </a:p>
          <a:p>
            <a:r>
              <a:rPr lang="en-IN" sz="1800" dirty="0"/>
              <a:t>There are 8 out of 500 employees who have a performance rating of “S”, but their salary is very low. 4 of them have a base salary of 40,000. Only 1 has above 80,000. The HR team needs to increase their salary to encourage them and to keep them in the company.</a:t>
            </a:r>
          </a:p>
          <a:p>
            <a:r>
              <a:rPr lang="en-IN" sz="1800" dirty="0"/>
              <a:t>Out of 188 employees with “S” or “A” rating, 57 have a base salary of 40,000 and 131 have a salary less than 60,000. This should be looked after by the HR team.</a:t>
            </a:r>
          </a:p>
          <a:p>
            <a:r>
              <a:rPr lang="en-IN" sz="1800" dirty="0"/>
              <a:t>There are 44 employees who left the firm, out of which 41 had a salary less than 66k. This was definitely a major reason they left and the company needs to look after it.</a:t>
            </a:r>
          </a:p>
          <a:p>
            <a:endParaRPr lang="en-IN" sz="1800" dirty="0"/>
          </a:p>
          <a:p>
            <a:endParaRPr lang="en-IN" sz="1800" dirty="0"/>
          </a:p>
          <a:p>
            <a:pPr marL="186262" indent="0">
              <a:buNone/>
            </a:pPr>
            <a:endParaRPr lang="en-IN" sz="1800" b="1" dirty="0"/>
          </a:p>
          <a:p>
            <a:pPr marL="186262" indent="0">
              <a:buNone/>
            </a:pPr>
            <a:endParaRPr lang="en-IN" sz="2400" b="1" dirty="0"/>
          </a:p>
        </p:txBody>
      </p:sp>
      <p:sp>
        <p:nvSpPr>
          <p:cNvPr id="3" name="Title 2">
            <a:extLst>
              <a:ext uri="{FF2B5EF4-FFF2-40B4-BE49-F238E27FC236}">
                <a16:creationId xmlns:a16="http://schemas.microsoft.com/office/drawing/2014/main" id="{FEA09C8D-6809-C595-2326-3F687C607C60}"/>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Recommendations :</a:t>
            </a:r>
            <a:br>
              <a:rPr lang="en-IN" sz="2800" dirty="0">
                <a:solidFill>
                  <a:prstClr val="black">
                    <a:lumMod val="85000"/>
                    <a:lumOff val="15000"/>
                  </a:prstClr>
                </a:solidFill>
                <a:latin typeface="Arial"/>
                <a:cs typeface="Arial"/>
                <a:sym typeface="Arial"/>
              </a:rPr>
            </a:br>
            <a:endParaRPr lang="en-IN" dirty="0"/>
          </a:p>
        </p:txBody>
      </p:sp>
    </p:spTree>
    <p:extLst>
      <p:ext uri="{BB962C8B-B14F-4D97-AF65-F5344CB8AC3E}">
        <p14:creationId xmlns:p14="http://schemas.microsoft.com/office/powerpoint/2010/main" val="2695028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B2316-C428-BCD2-27F3-AEE990F6063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5BB3C31-088F-5816-3AFE-F3C1624B7F0A}"/>
              </a:ext>
            </a:extLst>
          </p:cNvPr>
          <p:cNvSpPr>
            <a:spLocks noGrp="1"/>
          </p:cNvSpPr>
          <p:nvPr>
            <p:ph type="body" idx="1"/>
          </p:nvPr>
        </p:nvSpPr>
        <p:spPr>
          <a:xfrm>
            <a:off x="514349" y="992981"/>
            <a:ext cx="11115675" cy="5279232"/>
          </a:xfrm>
        </p:spPr>
        <p:txBody>
          <a:bodyPr>
            <a:normAutofit/>
          </a:bodyPr>
          <a:lstStyle/>
          <a:p>
            <a:r>
              <a:rPr lang="en-IN" sz="1800" dirty="0"/>
              <a:t>The company needs to deal with the employees with “PIP/1” rating, reduce the salary of bad performers and increase the salary of top performers to make them stay.</a:t>
            </a:r>
          </a:p>
          <a:p>
            <a:r>
              <a:rPr lang="en-IN" sz="1800" dirty="0"/>
              <a:t>The Development and Production departments and the Staff and Senior engineer job titles have the highest no. of employees and also the highest employees with “PIP” and “C” rating. The company needs to restructure these departments and job roles.</a:t>
            </a:r>
          </a:p>
          <a:p>
            <a:endParaRPr lang="en-IN" sz="1800" dirty="0"/>
          </a:p>
          <a:p>
            <a:pPr marL="186262" indent="0">
              <a:buNone/>
            </a:pPr>
            <a:endParaRPr lang="en-IN" sz="1800" b="1" dirty="0"/>
          </a:p>
          <a:p>
            <a:pPr marL="186262" indent="0">
              <a:buNone/>
            </a:pPr>
            <a:endParaRPr lang="en-IN" sz="2400" b="1" dirty="0"/>
          </a:p>
        </p:txBody>
      </p:sp>
      <p:sp>
        <p:nvSpPr>
          <p:cNvPr id="3" name="Title 2">
            <a:extLst>
              <a:ext uri="{FF2B5EF4-FFF2-40B4-BE49-F238E27FC236}">
                <a16:creationId xmlns:a16="http://schemas.microsoft.com/office/drawing/2014/main" id="{0BEFF4D4-9032-6CE0-9762-11DC719A0464}"/>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Recommendations :</a:t>
            </a:r>
            <a:br>
              <a:rPr lang="en-IN" sz="2800" dirty="0">
                <a:solidFill>
                  <a:prstClr val="black">
                    <a:lumMod val="85000"/>
                    <a:lumOff val="15000"/>
                  </a:prstClr>
                </a:solidFill>
                <a:latin typeface="Arial"/>
                <a:cs typeface="Arial"/>
                <a:sym typeface="Arial"/>
              </a:rPr>
            </a:br>
            <a:endParaRPr lang="en-IN" dirty="0"/>
          </a:p>
        </p:txBody>
      </p:sp>
    </p:spTree>
    <p:extLst>
      <p:ext uri="{BB962C8B-B14F-4D97-AF65-F5344CB8AC3E}">
        <p14:creationId xmlns:p14="http://schemas.microsoft.com/office/powerpoint/2010/main" val="3321887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AEFEA-4502-4B82-AE65-4A1DE789461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541124A-425B-633B-D66C-0C1ABA83D6C7}"/>
              </a:ext>
            </a:extLst>
          </p:cNvPr>
          <p:cNvSpPr>
            <a:spLocks noGrp="1"/>
          </p:cNvSpPr>
          <p:nvPr>
            <p:ph type="body" idx="1"/>
          </p:nvPr>
        </p:nvSpPr>
        <p:spPr>
          <a:xfrm>
            <a:off x="514349" y="992981"/>
            <a:ext cx="11115675" cy="5279232"/>
          </a:xfrm>
        </p:spPr>
        <p:txBody>
          <a:bodyPr>
            <a:normAutofit/>
          </a:bodyPr>
          <a:lstStyle/>
          <a:p>
            <a:r>
              <a:rPr lang="en-IN" sz="1800" dirty="0"/>
              <a:t>Had difficulty in understanding what tool (Excel, </a:t>
            </a:r>
            <a:r>
              <a:rPr lang="en-IN" sz="1800" dirty="0" err="1"/>
              <a:t>Sql</a:t>
            </a:r>
            <a:r>
              <a:rPr lang="en-IN" sz="1800" dirty="0"/>
              <a:t>, Power BI) to use to prepare what summaries.</a:t>
            </a:r>
          </a:p>
          <a:p>
            <a:r>
              <a:rPr lang="en-IN" sz="1800" dirty="0"/>
              <a:t>Had difficulty preparing summaries and deciding which summaries and insights to create.</a:t>
            </a:r>
          </a:p>
          <a:p>
            <a:r>
              <a:rPr lang="en-IN" sz="1800" dirty="0"/>
              <a:t>Had difficulty in importing excel workbook in </a:t>
            </a:r>
            <a:r>
              <a:rPr lang="en-IN" sz="1800" dirty="0" err="1"/>
              <a:t>MySql</a:t>
            </a:r>
            <a:r>
              <a:rPr lang="en-IN" sz="1800" dirty="0"/>
              <a:t> environment, so I had to save the excel sheets as CSV files and import those CVS files in </a:t>
            </a:r>
            <a:r>
              <a:rPr lang="en-IN" sz="1800" dirty="0" err="1"/>
              <a:t>MySql</a:t>
            </a:r>
            <a:r>
              <a:rPr lang="en-IN" sz="1800" dirty="0"/>
              <a:t>.</a:t>
            </a:r>
          </a:p>
          <a:p>
            <a:pPr marL="186262" indent="0">
              <a:buNone/>
            </a:pPr>
            <a:endParaRPr lang="en-IN" sz="1800" b="1" dirty="0"/>
          </a:p>
          <a:p>
            <a:pPr marL="186262" indent="0">
              <a:buNone/>
            </a:pPr>
            <a:endParaRPr lang="en-IN" sz="2400" b="1" dirty="0"/>
          </a:p>
        </p:txBody>
      </p:sp>
      <p:sp>
        <p:nvSpPr>
          <p:cNvPr id="3" name="Title 2">
            <a:extLst>
              <a:ext uri="{FF2B5EF4-FFF2-40B4-BE49-F238E27FC236}">
                <a16:creationId xmlns:a16="http://schemas.microsoft.com/office/drawing/2014/main" id="{B6CE4AA7-B415-4CBE-316D-A866D382947A}"/>
              </a:ext>
            </a:extLst>
          </p:cNvPr>
          <p:cNvSpPr>
            <a:spLocks noGrp="1"/>
          </p:cNvSpPr>
          <p:nvPr>
            <p:ph type="title"/>
          </p:nvPr>
        </p:nvSpPr>
        <p:spPr>
          <a:xfrm>
            <a:off x="424628" y="307181"/>
            <a:ext cx="10675200" cy="957263"/>
          </a:xfrm>
        </p:spPr>
        <p:txBody>
          <a:bodyPr/>
          <a:lstStyle/>
          <a:p>
            <a:r>
              <a:rPr lang="en-IN" sz="2800" dirty="0">
                <a:solidFill>
                  <a:prstClr val="black">
                    <a:lumMod val="85000"/>
                    <a:lumOff val="15000"/>
                  </a:prstClr>
                </a:solidFill>
                <a:latin typeface="Arial"/>
                <a:cs typeface="Arial"/>
                <a:sym typeface="Arial"/>
              </a:rPr>
              <a:t>Challenges faced during the project :</a:t>
            </a:r>
            <a:br>
              <a:rPr lang="en-IN" sz="2800" dirty="0">
                <a:solidFill>
                  <a:prstClr val="black">
                    <a:lumMod val="85000"/>
                    <a:lumOff val="15000"/>
                  </a:prstClr>
                </a:solidFill>
                <a:latin typeface="Arial"/>
                <a:cs typeface="Arial"/>
                <a:sym typeface="Arial"/>
              </a:rPr>
            </a:br>
            <a:endParaRPr lang="en-IN" dirty="0"/>
          </a:p>
        </p:txBody>
      </p:sp>
    </p:spTree>
    <p:extLst>
      <p:ext uri="{BB962C8B-B14F-4D97-AF65-F5344CB8AC3E}">
        <p14:creationId xmlns:p14="http://schemas.microsoft.com/office/powerpoint/2010/main" val="1323742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p46"/>
          <p:cNvSpPr txBox="1">
            <a:spLocks noGrp="1"/>
          </p:cNvSpPr>
          <p:nvPr>
            <p:ph type="subTitle" idx="1"/>
          </p:nvPr>
        </p:nvSpPr>
        <p:spPr>
          <a:xfrm>
            <a:off x="2849000" y="2488624"/>
            <a:ext cx="6494000" cy="1056800"/>
          </a:xfrm>
          <a:prstGeom prst="rect">
            <a:avLst/>
          </a:prstGeom>
          <a:noFill/>
          <a:ln>
            <a:noFill/>
          </a:ln>
        </p:spPr>
        <p:txBody>
          <a:bodyPr spcFirstLastPara="1" wrap="square" lIns="121900" tIns="121900" rIns="121900" bIns="121900" anchor="ctr" anchorCtr="0">
            <a:normAutofit fontScale="92500" lnSpcReduction="10000"/>
          </a:bodyPr>
          <a:lstStyle/>
          <a:p>
            <a:pPr marL="609585" indent="-457189"/>
            <a:r>
              <a:rPr lang="en-US" sz="6400" b="1" dirty="0"/>
              <a:t>THANK YOU!</a:t>
            </a:r>
          </a:p>
        </p:txBody>
      </p:sp>
    </p:spTree>
    <p:extLst>
      <p:ext uri="{BB962C8B-B14F-4D97-AF65-F5344CB8AC3E}">
        <p14:creationId xmlns:p14="http://schemas.microsoft.com/office/powerpoint/2010/main" val="3656772840"/>
      </p:ext>
    </p:extLst>
  </p:cSld>
  <p:clrMapOvr>
    <a:masterClrMapping/>
  </p:clrMapOvr>
</p:sld>
</file>

<file path=ppt/theme/theme1.xml><?xml version="1.0" encoding="utf-8"?>
<a:theme xmlns:a="http://schemas.openxmlformats.org/drawingml/2006/main" name="Tropic">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15730</TotalTime>
  <Words>2088</Words>
  <Application>Microsoft Office PowerPoint</Application>
  <PresentationFormat>Widescreen</PresentationFormat>
  <Paragraphs>328</Paragraphs>
  <Slides>27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Open Sans</vt:lpstr>
      <vt:lpstr>PT Sans Narrow</vt:lpstr>
      <vt:lpstr>Raleway</vt:lpstr>
      <vt:lpstr>Tropic</vt:lpstr>
      <vt:lpstr>PowerPoint Presentation</vt:lpstr>
      <vt:lpstr>Business Context : </vt:lpstr>
      <vt:lpstr>Problem Statement : </vt:lpstr>
      <vt:lpstr>Stakeholders for this project : </vt:lpstr>
      <vt:lpstr>Technology Stack :</vt:lpstr>
      <vt:lpstr>Data Dictionary : </vt:lpstr>
      <vt:lpstr>Meta Data (1/3) : </vt:lpstr>
      <vt:lpstr>Meta Data (2/3) : </vt:lpstr>
      <vt:lpstr>Meta Data (3/3) : </vt:lpstr>
      <vt:lpstr>ER Diagram : </vt:lpstr>
      <vt:lpstr>Data Checks/Discrepancies : </vt:lpstr>
      <vt:lpstr>STEPS PERFORMED FOR DATA PREPARATION : </vt:lpstr>
      <vt:lpstr>DETAILED ANALYSIS OUTPUTS : </vt:lpstr>
      <vt:lpstr>DETAILED ANALYSIS OUTPUTS : </vt:lpstr>
      <vt:lpstr>DETAILED ANALYSIS OUTPUTS : </vt:lpstr>
      <vt:lpstr>DETAILED ANALYSIS OUTPUTS : </vt:lpstr>
      <vt:lpstr>DETAILED ANALYSIS OUTPUTS : </vt:lpstr>
      <vt:lpstr>DETAILED ANALYSIS OUTPUTS : </vt:lpstr>
      <vt:lpstr>DETAILED ANALYSIS OUTPUTS : </vt:lpstr>
      <vt:lpstr>DETAILED ANALYSIS OUTPUTS : </vt:lpstr>
      <vt:lpstr>DETAILED ANALYSIS OUTPUTS : </vt:lpstr>
      <vt:lpstr>DETAILED ANALYSIS OUTPUTS : </vt:lpstr>
      <vt:lpstr>DETAILED ANALYSIS OUTPUTS : </vt:lpstr>
      <vt:lpstr>Recommendations : </vt:lpstr>
      <vt:lpstr>Recommendations : </vt:lpstr>
      <vt:lpstr>Challenges faced during the project :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oorja gund</dc:creator>
  <cp:lastModifiedBy>Mohammed Salah</cp:lastModifiedBy>
  <cp:revision>296</cp:revision>
  <dcterms:created xsi:type="dcterms:W3CDTF">2025-04-04T02:52:34Z</dcterms:created>
  <dcterms:modified xsi:type="dcterms:W3CDTF">2026-03-10T09:48:47Z</dcterms:modified>
</cp:coreProperties>
</file>